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kzidenz-Grotesk Bold" charset="1" panose="02000803050000020004"/>
      <p:regular r:id="rId21"/>
    </p:embeddedFont>
    <p:embeddedFont>
      <p:font typeface="Stavok Grotesque" charset="1" panose="00000500000000000000"/>
      <p:regular r:id="rId22"/>
    </p:embeddedFont>
    <p:embeddedFont>
      <p:font typeface="Akzidenz-Grotesk" charset="1" panose="02000503030000020003"/>
      <p:regular r:id="rId23"/>
    </p:embeddedFont>
    <p:embeddedFont>
      <p:font typeface="Akzidenz-Grotesk Italics" charset="1" panose="020005030500000900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24.jpeg" Type="http://schemas.openxmlformats.org/officeDocument/2006/relationships/image"/><Relationship Id="rId4" Target="../media/image25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jpeg" Type="http://schemas.openxmlformats.org/officeDocument/2006/relationships/image"/><Relationship Id="rId11" Target="../media/image34.jpeg" Type="http://schemas.openxmlformats.org/officeDocument/2006/relationships/image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16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8417" y="6504078"/>
            <a:ext cx="8027118" cy="920183"/>
            <a:chOff x="0" y="0"/>
            <a:chExt cx="2140814" cy="2454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0814" cy="245411"/>
            </a:xfrm>
            <a:custGeom>
              <a:avLst/>
              <a:gdLst/>
              <a:ahLst/>
              <a:cxnLst/>
              <a:rect r="r" b="b" t="t" l="l"/>
              <a:pathLst>
                <a:path h="245411" w="2140814">
                  <a:moveTo>
                    <a:pt x="0" y="0"/>
                  </a:moveTo>
                  <a:lnTo>
                    <a:pt x="2140814" y="0"/>
                  </a:lnTo>
                  <a:lnTo>
                    <a:pt x="2140814" y="245411"/>
                  </a:lnTo>
                  <a:lnTo>
                    <a:pt x="0" y="245411"/>
                  </a:lnTo>
                  <a:close/>
                </a:path>
              </a:pathLst>
            </a:custGeom>
            <a:solidFill>
              <a:srgbClr val="20212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40814" cy="2835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924017" y="-499802"/>
            <a:ext cx="10727965" cy="10786802"/>
          </a:xfrm>
          <a:custGeom>
            <a:avLst/>
            <a:gdLst/>
            <a:ahLst/>
            <a:cxnLst/>
            <a:rect r="r" b="b" t="t" l="l"/>
            <a:pathLst>
              <a:path h="10786802" w="10727965">
                <a:moveTo>
                  <a:pt x="0" y="0"/>
                </a:moveTo>
                <a:lnTo>
                  <a:pt x="10727966" y="0"/>
                </a:lnTo>
                <a:lnTo>
                  <a:pt x="10727966" y="10786802"/>
                </a:lnTo>
                <a:lnTo>
                  <a:pt x="0" y="10786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08417" y="2008099"/>
            <a:ext cx="12874860" cy="449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3"/>
              </a:lnSpc>
            </a:pPr>
            <a:r>
              <a:rPr lang="en-US" b="true" sz="7791">
                <a:solidFill>
                  <a:srgbClr val="F7EDE1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OTIMIZAÇÃO DE</a:t>
            </a:r>
            <a:r>
              <a:rPr lang="en-US" b="true" sz="7791">
                <a:solidFill>
                  <a:srgbClr val="F7EDE1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 CARREGAMENTO DE CONTÊINERES EM BALSAS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2132723">
            <a:off x="-1099169" y="9043429"/>
            <a:ext cx="3130270" cy="2487141"/>
          </a:xfrm>
          <a:custGeom>
            <a:avLst/>
            <a:gdLst/>
            <a:ahLst/>
            <a:cxnLst/>
            <a:rect r="r" b="b" t="t" l="l"/>
            <a:pathLst>
              <a:path h="2487141" w="3130270">
                <a:moveTo>
                  <a:pt x="0" y="0"/>
                </a:moveTo>
                <a:lnTo>
                  <a:pt x="3130269" y="0"/>
                </a:lnTo>
                <a:lnTo>
                  <a:pt x="3130269" y="2487142"/>
                </a:lnTo>
                <a:lnTo>
                  <a:pt x="0" y="24871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223035" y="-1565726"/>
            <a:ext cx="3131452" cy="3131452"/>
          </a:xfrm>
          <a:custGeom>
            <a:avLst/>
            <a:gdLst/>
            <a:ahLst/>
            <a:cxnLst/>
            <a:rect r="r" b="b" t="t" l="l"/>
            <a:pathLst>
              <a:path h="3131452" w="3131452">
                <a:moveTo>
                  <a:pt x="0" y="0"/>
                </a:moveTo>
                <a:lnTo>
                  <a:pt x="3131452" y="0"/>
                </a:lnTo>
                <a:lnTo>
                  <a:pt x="3131452" y="3131452"/>
                </a:lnTo>
                <a:lnTo>
                  <a:pt x="0" y="31314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78553" y="6556430"/>
            <a:ext cx="8015253" cy="760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1">
                <a:solidFill>
                  <a:srgbClr val="F7EDE1"/>
                </a:solidFill>
                <a:latin typeface="Stavok Grotesque"/>
                <a:ea typeface="Stavok Grotesque"/>
                <a:cs typeface="Stavok Grotesque"/>
                <a:sym typeface="Stavok Grotesque"/>
              </a:rPr>
              <a:t>Abordagem com Algoritmos Genéticos para Maximizar Estabilidade e Minimizar Movimentos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978553" y="8272443"/>
            <a:ext cx="2681517" cy="1076381"/>
            <a:chOff x="0" y="0"/>
            <a:chExt cx="3575355" cy="14351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6332" cy="1435175"/>
            </a:xfrm>
            <a:custGeom>
              <a:avLst/>
              <a:gdLst/>
              <a:ahLst/>
              <a:cxnLst/>
              <a:rect r="r" b="b" t="t" l="l"/>
              <a:pathLst>
                <a:path h="1435175" w="1466332">
                  <a:moveTo>
                    <a:pt x="0" y="0"/>
                  </a:moveTo>
                  <a:lnTo>
                    <a:pt x="1466332" y="0"/>
                  </a:lnTo>
                  <a:lnTo>
                    <a:pt x="1466332" y="1435175"/>
                  </a:lnTo>
                  <a:lnTo>
                    <a:pt x="0" y="1435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79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855470" y="23891"/>
              <a:ext cx="1719885" cy="1387392"/>
            </a:xfrm>
            <a:custGeom>
              <a:avLst/>
              <a:gdLst/>
              <a:ahLst/>
              <a:cxnLst/>
              <a:rect r="r" b="b" t="t" l="l"/>
              <a:pathLst>
                <a:path h="1387392" w="1719885">
                  <a:moveTo>
                    <a:pt x="0" y="0"/>
                  </a:moveTo>
                  <a:lnTo>
                    <a:pt x="1719885" y="0"/>
                  </a:lnTo>
                  <a:lnTo>
                    <a:pt x="1719885" y="1387392"/>
                  </a:lnTo>
                  <a:lnTo>
                    <a:pt x="0" y="1387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659" t="-13232" r="-1492" b="-1340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166599" y="7407787"/>
            <a:ext cx="5274780" cy="2767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442">
                <a:solidFill>
                  <a:srgbClr val="F7EDE1"/>
                </a:solidFill>
                <a:latin typeface="Stavok Grotesque"/>
                <a:ea typeface="Stavok Grotesque"/>
                <a:cs typeface="Stavok Grotesque"/>
                <a:sym typeface="Stavok Grotesque"/>
              </a:rPr>
              <a:t>Equipe 2</a:t>
            </a:r>
          </a:p>
          <a:p>
            <a:pPr algn="l" marL="311330" indent="-155665" lvl="1">
              <a:lnSpc>
                <a:spcPts val="2018"/>
              </a:lnSpc>
              <a:buFont typeface="Arial"/>
              <a:buChar char="•"/>
            </a:pPr>
            <a:r>
              <a:rPr lang="en-US" sz="1442">
                <a:solidFill>
                  <a:srgbClr val="F7EDE1"/>
                </a:solidFill>
                <a:latin typeface="Stavok Grotesque"/>
                <a:ea typeface="Stavok Grotesque"/>
                <a:cs typeface="Stavok Grotesque"/>
                <a:sym typeface="Stavok Grotesque"/>
              </a:rPr>
              <a:t>Antonio Gabriel Nunes Martins</a:t>
            </a:r>
          </a:p>
          <a:p>
            <a:pPr algn="l" marL="311330" indent="-155665" lvl="1">
              <a:lnSpc>
                <a:spcPts val="2018"/>
              </a:lnSpc>
              <a:buFont typeface="Arial"/>
              <a:buChar char="•"/>
            </a:pPr>
            <a:r>
              <a:rPr lang="en-US" sz="1442">
                <a:solidFill>
                  <a:srgbClr val="F7EDE1"/>
                </a:solidFill>
                <a:latin typeface="Stavok Grotesque"/>
                <a:ea typeface="Stavok Grotesque"/>
                <a:cs typeface="Stavok Grotesque"/>
                <a:sym typeface="Stavok Grotesque"/>
              </a:rPr>
              <a:t>Carlos Eduardo Correa Queiroz</a:t>
            </a:r>
          </a:p>
          <a:p>
            <a:pPr algn="l" marL="311330" indent="-155665" lvl="1">
              <a:lnSpc>
                <a:spcPts val="2018"/>
              </a:lnSpc>
              <a:buFont typeface="Arial"/>
              <a:buChar char="•"/>
            </a:pPr>
            <a:r>
              <a:rPr lang="en-US" sz="1442">
                <a:solidFill>
                  <a:srgbClr val="F7EDE1"/>
                </a:solidFill>
                <a:latin typeface="Stavok Grotesque"/>
                <a:ea typeface="Stavok Grotesque"/>
                <a:cs typeface="Stavok Grotesque"/>
                <a:sym typeface="Stavok Grotesque"/>
              </a:rPr>
              <a:t>Cristiano Peniche Ceccon</a:t>
            </a:r>
          </a:p>
          <a:p>
            <a:pPr algn="l" marL="311330" indent="-155665" lvl="1">
              <a:lnSpc>
                <a:spcPts val="2018"/>
              </a:lnSpc>
              <a:buFont typeface="Arial"/>
              <a:buChar char="•"/>
            </a:pPr>
            <a:r>
              <a:rPr lang="en-US" sz="1442">
                <a:solidFill>
                  <a:srgbClr val="F7EDE1"/>
                </a:solidFill>
                <a:latin typeface="Stavok Grotesque"/>
                <a:ea typeface="Stavok Grotesque"/>
                <a:cs typeface="Stavok Grotesque"/>
                <a:sym typeface="Stavok Grotesque"/>
              </a:rPr>
              <a:t>Eduarda Aline de Oliveira Noronha</a:t>
            </a:r>
          </a:p>
          <a:p>
            <a:pPr algn="l" marL="311330" indent="-155665" lvl="1">
              <a:lnSpc>
                <a:spcPts val="2018"/>
              </a:lnSpc>
              <a:buFont typeface="Arial"/>
              <a:buChar char="•"/>
            </a:pPr>
            <a:r>
              <a:rPr lang="en-US" sz="1442">
                <a:solidFill>
                  <a:srgbClr val="F7EDE1"/>
                </a:solidFill>
                <a:latin typeface="Stavok Grotesque"/>
                <a:ea typeface="Stavok Grotesque"/>
                <a:cs typeface="Stavok Grotesque"/>
                <a:sym typeface="Stavok Grotesque"/>
              </a:rPr>
              <a:t>João Victor Mattos Lopes</a:t>
            </a:r>
          </a:p>
          <a:p>
            <a:pPr algn="l" marL="311330" indent="-155665" lvl="1">
              <a:lnSpc>
                <a:spcPts val="2018"/>
              </a:lnSpc>
              <a:buFont typeface="Arial"/>
              <a:buChar char="•"/>
            </a:pPr>
            <a:r>
              <a:rPr lang="en-US" sz="1442">
                <a:solidFill>
                  <a:srgbClr val="F7EDE1"/>
                </a:solidFill>
                <a:latin typeface="Stavok Grotesque"/>
                <a:ea typeface="Stavok Grotesque"/>
                <a:cs typeface="Stavok Grotesque"/>
                <a:sym typeface="Stavok Grotesque"/>
              </a:rPr>
              <a:t>Leonardo Fernandes Cavalcante</a:t>
            </a:r>
          </a:p>
          <a:p>
            <a:pPr algn="l" marL="311330" indent="-155665" lvl="1">
              <a:lnSpc>
                <a:spcPts val="2018"/>
              </a:lnSpc>
              <a:buFont typeface="Arial"/>
              <a:buChar char="•"/>
            </a:pPr>
            <a:r>
              <a:rPr lang="en-US" sz="1442">
                <a:solidFill>
                  <a:srgbClr val="F7EDE1"/>
                </a:solidFill>
                <a:latin typeface="Stavok Grotesque"/>
                <a:ea typeface="Stavok Grotesque"/>
                <a:cs typeface="Stavok Grotesque"/>
                <a:sym typeface="Stavok Grotesque"/>
              </a:rPr>
              <a:t>Lucas dos Anjos Silva</a:t>
            </a:r>
          </a:p>
          <a:p>
            <a:pPr algn="l" marL="311330" indent="-155665" lvl="1">
              <a:lnSpc>
                <a:spcPts val="2018"/>
              </a:lnSpc>
              <a:buFont typeface="Arial"/>
              <a:buChar char="•"/>
            </a:pPr>
            <a:r>
              <a:rPr lang="en-US" sz="1442">
                <a:solidFill>
                  <a:srgbClr val="F7EDE1"/>
                </a:solidFill>
                <a:latin typeface="Stavok Grotesque"/>
                <a:ea typeface="Stavok Grotesque"/>
                <a:cs typeface="Stavok Grotesque"/>
                <a:sym typeface="Stavok Grotesque"/>
              </a:rPr>
              <a:t>Paulo Eduardo Ribeiro Cativo</a:t>
            </a:r>
          </a:p>
          <a:p>
            <a:pPr algn="l" marL="311330" indent="-155665" lvl="1">
              <a:lnSpc>
                <a:spcPts val="2018"/>
              </a:lnSpc>
              <a:buFont typeface="Arial"/>
              <a:buChar char="•"/>
            </a:pPr>
            <a:r>
              <a:rPr lang="en-US" sz="1442">
                <a:solidFill>
                  <a:srgbClr val="F7EDE1"/>
                </a:solidFill>
                <a:latin typeface="Stavok Grotesque"/>
                <a:ea typeface="Stavok Grotesque"/>
                <a:cs typeface="Stavok Grotesque"/>
                <a:sym typeface="Stavok Grotesque"/>
              </a:rPr>
              <a:t>Pedro César Mendonça Ituassú</a:t>
            </a:r>
          </a:p>
          <a:p>
            <a:pPr algn="l" marL="311330" indent="-155665" lvl="1">
              <a:lnSpc>
                <a:spcPts val="2018"/>
              </a:lnSpc>
              <a:spcBef>
                <a:spcPct val="0"/>
              </a:spcBef>
              <a:buFont typeface="Arial"/>
              <a:buChar char="•"/>
            </a:pPr>
            <a:r>
              <a:rPr lang="en-US" sz="1442">
                <a:solidFill>
                  <a:srgbClr val="F7EDE1"/>
                </a:solidFill>
                <a:latin typeface="Stavok Grotesque"/>
                <a:ea typeface="Stavok Grotesque"/>
                <a:cs typeface="Stavok Grotesque"/>
                <a:sym typeface="Stavok Grotesque"/>
              </a:rPr>
              <a:t>Thiago Cordeiro de Melo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3455" y="0"/>
            <a:ext cx="3086100" cy="11008349"/>
            <a:chOff x="0" y="0"/>
            <a:chExt cx="812800" cy="289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899318"/>
            </a:xfrm>
            <a:custGeom>
              <a:avLst/>
              <a:gdLst/>
              <a:ahLst/>
              <a:cxnLst/>
              <a:rect r="r" b="b" t="t" l="l"/>
              <a:pathLst>
                <a:path h="289931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899318"/>
                  </a:lnTo>
                  <a:lnTo>
                    <a:pt x="0" y="2899318"/>
                  </a:lnTo>
                  <a:close/>
                </a:path>
              </a:pathLst>
            </a:custGeom>
            <a:solidFill>
              <a:srgbClr val="416B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2946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9684537" y="948690"/>
            <a:ext cx="0" cy="8389620"/>
          </a:xfrm>
          <a:prstGeom prst="line">
            <a:avLst/>
          </a:prstGeom>
          <a:ln cap="flat" w="38100">
            <a:solidFill>
              <a:srgbClr val="20212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638359" y="8965259"/>
            <a:ext cx="4092356" cy="4114800"/>
          </a:xfrm>
          <a:custGeom>
            <a:avLst/>
            <a:gdLst/>
            <a:ahLst/>
            <a:cxnLst/>
            <a:rect r="r" b="b" t="t" l="l"/>
            <a:pathLst>
              <a:path h="4114800" w="4092356">
                <a:moveTo>
                  <a:pt x="0" y="0"/>
                </a:moveTo>
                <a:lnTo>
                  <a:pt x="4092356" y="0"/>
                </a:lnTo>
                <a:lnTo>
                  <a:pt x="40923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85362" y="1564899"/>
            <a:ext cx="5547408" cy="904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6"/>
              </a:lnSpc>
            </a:pPr>
            <a:r>
              <a:rPr lang="en-US" b="true" sz="3156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O QUE SÃO ALGORITMOS GENÉTICOS (AG)?</a:t>
            </a:r>
          </a:p>
        </p:txBody>
      </p:sp>
      <p:sp>
        <p:nvSpPr>
          <p:cNvPr name="TextBox 8" id="8"/>
          <p:cNvSpPr txBox="true"/>
          <p:nvPr/>
        </p:nvSpPr>
        <p:spPr>
          <a:xfrm rot="-5400000">
            <a:off x="-1735479" y="4915159"/>
            <a:ext cx="5547408" cy="456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6"/>
              </a:lnSpc>
            </a:pPr>
            <a:r>
              <a:rPr lang="en-US" b="true" sz="3156">
                <a:solidFill>
                  <a:srgbClr val="F7EDE1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INTRODUÇÃO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72979" y="1564899"/>
            <a:ext cx="6459564" cy="456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6"/>
              </a:lnSpc>
            </a:pPr>
            <a:r>
              <a:rPr lang="en-US" b="true" sz="3156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NOSSO PROBLEMA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71610" y="4162984"/>
            <a:ext cx="6374912" cy="261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Inspirados na evolução natural (seleção, crossover, mutação).</a:t>
            </a:r>
          </a:p>
          <a:p>
            <a:pPr algn="l">
              <a:lnSpc>
                <a:spcPts val="3487"/>
              </a:lnSpc>
            </a:pPr>
          </a:p>
          <a:p>
            <a:pPr algn="l" marL="537848" indent="-268924" lvl="1">
              <a:lnSpc>
                <a:spcPts val="3487"/>
              </a:lnSpc>
              <a:spcBef>
                <a:spcPct val="0"/>
              </a:spcBef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Úteis para problemas de otimização complexos (</a:t>
            </a:r>
            <a:r>
              <a:rPr lang="en-US" b="true" sz="2491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como o carregamento de contêineres</a:t>
            </a: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15305" y="3067609"/>
            <a:ext cx="6374912" cy="4842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Carregar </a:t>
            </a:r>
            <a:r>
              <a:rPr lang="en-US" b="true" sz="2491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24 contêineres</a:t>
            </a: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em uma </a:t>
            </a:r>
            <a:r>
              <a:rPr lang="en-US" b="true" sz="2491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balsa 4x4</a:t>
            </a: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(máx. 10/andar e min. 8/andar), minimizando movimentos e maximizando estabilidade.</a:t>
            </a:r>
          </a:p>
          <a:p>
            <a:pPr algn="l">
              <a:lnSpc>
                <a:spcPts val="3487"/>
              </a:lnSpc>
            </a:pPr>
          </a:p>
          <a:p>
            <a:pPr algn="l" marL="537848" indent="-268924" lvl="1">
              <a:lnSpc>
                <a:spcPts val="348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1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Restrições</a:t>
            </a: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: Contêineres inicialmente empilhados (12/andar no porto), mesmo peso/dimensão.</a:t>
            </a:r>
          </a:p>
          <a:p>
            <a:pPr algn="l">
              <a:lnSpc>
                <a:spcPts val="3487"/>
              </a:lnSpc>
              <a:spcBef>
                <a:spcPct val="0"/>
              </a:spcBef>
            </a:pPr>
          </a:p>
          <a:p>
            <a:pPr algn="l" marL="537848" indent="-268924" lvl="1">
              <a:lnSpc>
                <a:spcPts val="3487"/>
              </a:lnSpc>
              <a:spcBef>
                <a:spcPct val="0"/>
              </a:spcBef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 balsa deve também </a:t>
            </a:r>
            <a:r>
              <a:rPr lang="en-US" b="true" sz="2491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afundar </a:t>
            </a: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com uma determinada distribuição dos contêineres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3455" y="0"/>
            <a:ext cx="3086100" cy="11008349"/>
            <a:chOff x="0" y="0"/>
            <a:chExt cx="812800" cy="289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899318"/>
            </a:xfrm>
            <a:custGeom>
              <a:avLst/>
              <a:gdLst/>
              <a:ahLst/>
              <a:cxnLst/>
              <a:rect r="r" b="b" t="t" l="l"/>
              <a:pathLst>
                <a:path h="289931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899318"/>
                  </a:lnTo>
                  <a:lnTo>
                    <a:pt x="0" y="2899318"/>
                  </a:lnTo>
                  <a:close/>
                </a:path>
              </a:pathLst>
            </a:custGeom>
            <a:solidFill>
              <a:srgbClr val="416B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2946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73024" y="2025158"/>
            <a:ext cx="5246370" cy="6958033"/>
            <a:chOff x="0" y="0"/>
            <a:chExt cx="812800" cy="10779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77981"/>
            </a:xfrm>
            <a:custGeom>
              <a:avLst/>
              <a:gdLst/>
              <a:ahLst/>
              <a:cxnLst/>
              <a:rect r="r" b="b" t="t" l="l"/>
              <a:pathLst>
                <a:path h="1077981" w="812800">
                  <a:moveTo>
                    <a:pt x="29513" y="0"/>
                  </a:moveTo>
                  <a:lnTo>
                    <a:pt x="783287" y="0"/>
                  </a:lnTo>
                  <a:cubicBezTo>
                    <a:pt x="799586" y="0"/>
                    <a:pt x="812800" y="13214"/>
                    <a:pt x="812800" y="29513"/>
                  </a:cubicBezTo>
                  <a:lnTo>
                    <a:pt x="812800" y="1048468"/>
                  </a:lnTo>
                  <a:cubicBezTo>
                    <a:pt x="812800" y="1056296"/>
                    <a:pt x="809691" y="1063802"/>
                    <a:pt x="804156" y="1069337"/>
                  </a:cubicBezTo>
                  <a:cubicBezTo>
                    <a:pt x="798621" y="1074872"/>
                    <a:pt x="791114" y="1077981"/>
                    <a:pt x="783287" y="1077981"/>
                  </a:cubicBezTo>
                  <a:lnTo>
                    <a:pt x="29513" y="1077981"/>
                  </a:lnTo>
                  <a:cubicBezTo>
                    <a:pt x="13214" y="1077981"/>
                    <a:pt x="0" y="1064768"/>
                    <a:pt x="0" y="1048468"/>
                  </a:cubicBezTo>
                  <a:lnTo>
                    <a:pt x="0" y="29513"/>
                  </a:lnTo>
                  <a:cubicBezTo>
                    <a:pt x="0" y="13214"/>
                    <a:pt x="13214" y="0"/>
                    <a:pt x="29513" y="0"/>
                  </a:cubicBezTo>
                  <a:close/>
                </a:path>
              </a:pathLst>
            </a:custGeom>
            <a:blipFill>
              <a:blip r:embed="rId2"/>
              <a:stretch>
                <a:fillRect l="-67889" t="0" r="-67889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3141904" y="2051198"/>
            <a:ext cx="6725486" cy="904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b="true" sz="3156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ALGORITMO GENÉTICO ADAPTATIVO (AGA)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22311" y="3309883"/>
            <a:ext cx="6374912" cy="568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Diferença para AG clássico:</a:t>
            </a:r>
          </a:p>
          <a:p>
            <a:pPr algn="l">
              <a:lnSpc>
                <a:spcPts val="3487"/>
              </a:lnSpc>
            </a:pPr>
          </a:p>
          <a:p>
            <a:pPr algn="l" marL="1075697" indent="-358566" lvl="2">
              <a:lnSpc>
                <a:spcPts val="3487"/>
              </a:lnSpc>
              <a:buFont typeface="Arial"/>
              <a:buChar char="⚬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Taxas de mutação e crossover dinâmicas (ajustam-se conforme desempenho da população).</a:t>
            </a:r>
          </a:p>
          <a:p>
            <a:pPr algn="l">
              <a:lnSpc>
                <a:spcPts val="3487"/>
              </a:lnSpc>
            </a:pPr>
          </a:p>
          <a:p>
            <a:pPr algn="l" marL="1075697" indent="-358566" lvl="2">
              <a:lnSpc>
                <a:spcPts val="3487"/>
              </a:lnSpc>
              <a:buFont typeface="Arial"/>
              <a:buChar char="⚬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Exemplo: Se diversidade genética é baixa, aumenta mutação para evitar estagnação.</a:t>
            </a:r>
          </a:p>
          <a:p>
            <a:pPr algn="l">
              <a:lnSpc>
                <a:spcPts val="3487"/>
              </a:lnSpc>
            </a:pPr>
          </a:p>
          <a:p>
            <a:pPr algn="l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Por que usamos?</a:t>
            </a:r>
          </a:p>
          <a:p>
            <a:pPr algn="l" marL="1075697" indent="-358566" lvl="2">
              <a:lnSpc>
                <a:spcPts val="3487"/>
              </a:lnSpc>
              <a:buFont typeface="Arial"/>
              <a:buChar char="⚬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Exploração para evitar estagnação e melhorar a busca por soluções ótimas.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1735479" y="4915159"/>
            <a:ext cx="5547408" cy="456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6"/>
              </a:lnSpc>
            </a:pPr>
            <a:r>
              <a:rPr lang="en-US" b="true" sz="3156">
                <a:solidFill>
                  <a:srgbClr val="F7EDE1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MÉTODO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7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3455" y="0"/>
            <a:ext cx="3086100" cy="11008349"/>
            <a:chOff x="0" y="0"/>
            <a:chExt cx="812800" cy="289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899318"/>
            </a:xfrm>
            <a:custGeom>
              <a:avLst/>
              <a:gdLst/>
              <a:ahLst/>
              <a:cxnLst/>
              <a:rect r="r" b="b" t="t" l="l"/>
              <a:pathLst>
                <a:path h="289931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899318"/>
                  </a:lnTo>
                  <a:lnTo>
                    <a:pt x="0" y="2899318"/>
                  </a:lnTo>
                  <a:close/>
                </a:path>
              </a:pathLst>
            </a:custGeom>
            <a:solidFill>
              <a:srgbClr val="416B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2946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44146" y="2048997"/>
            <a:ext cx="8026177" cy="649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3676" indent="-211838" lvl="1">
              <a:lnSpc>
                <a:spcPts val="2747"/>
              </a:lnSpc>
              <a:buAutoNum type="arabicPeriod" startAt="1"/>
            </a:pPr>
            <a:r>
              <a:rPr lang="en-US" b="true" sz="1962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Definição das variáveis iniciais:</a:t>
            </a:r>
          </a:p>
          <a:p>
            <a:pPr algn="l" marL="847352" indent="-282451" lvl="2">
              <a:lnSpc>
                <a:spcPts val="2747"/>
              </a:lnSpc>
              <a:buFont typeface="Arial"/>
              <a:buChar char="⚬"/>
            </a:pP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Parâmetros clássicos (população, gerações, mutação, crossover).</a:t>
            </a:r>
          </a:p>
          <a:p>
            <a:pPr algn="l" marL="847352" indent="-282451" lvl="2">
              <a:lnSpc>
                <a:spcPts val="2747"/>
              </a:lnSpc>
              <a:buFont typeface="Arial"/>
              <a:buChar char="⚬"/>
            </a:pP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Taxas de mutação/crossover mínimas e máximas para controle adaptativo.</a:t>
            </a:r>
          </a:p>
          <a:p>
            <a:pPr algn="l">
              <a:lnSpc>
                <a:spcPts val="2747"/>
              </a:lnSpc>
            </a:pP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  2. </a:t>
            </a:r>
            <a:r>
              <a:rPr lang="en-US" sz="1962" b="true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</a:t>
            </a:r>
            <a:r>
              <a:rPr lang="en-US" sz="1962" b="true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nicialização (run_aga):</a:t>
            </a:r>
          </a:p>
          <a:p>
            <a:pPr algn="l" marL="847352" indent="-282451" lvl="2">
              <a:lnSpc>
                <a:spcPts val="2747"/>
              </a:lnSpc>
              <a:buFont typeface="Arial"/>
              <a:buChar char="⚬"/>
            </a:pP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Geração aleatória dos cromossomos [[X1, Y1, Z1], [X2, Y2, Z2]] para 24 contêineres.</a:t>
            </a:r>
          </a:p>
          <a:p>
            <a:pPr algn="l" marL="847352" indent="-282451" lvl="2">
              <a:lnSpc>
                <a:spcPts val="2747"/>
              </a:lnSpc>
              <a:buFont typeface="Arial"/>
              <a:buChar char="⚬"/>
            </a:pP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Verificação de suporte (sem contêineres flutuando) via selecionarPosicao.</a:t>
            </a:r>
          </a:p>
          <a:p>
            <a:pPr algn="l">
              <a:lnSpc>
                <a:spcPts val="2747"/>
              </a:lnSpc>
            </a:pP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  3. </a:t>
            </a:r>
            <a:r>
              <a:rPr lang="en-US" sz="1962" b="true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Avaliação da População:</a:t>
            </a:r>
          </a:p>
          <a:p>
            <a:pPr algn="l" marL="847352" indent="-282451" lvl="2">
              <a:lnSpc>
                <a:spcPts val="2747"/>
              </a:lnSpc>
              <a:buFont typeface="Arial"/>
              <a:buChar char="⚬"/>
            </a:pP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Cálculo da função objetivo (estabilidade + quantidade de movimentos).</a:t>
            </a:r>
          </a:p>
          <a:p>
            <a:pPr algn="l" marL="847352" indent="-282451" lvl="2">
              <a:lnSpc>
                <a:spcPts val="2747"/>
              </a:lnSpc>
              <a:buFont typeface="Arial"/>
              <a:buChar char="⚬"/>
            </a:pP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Aplicação de penalidades (for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mat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 c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uz, l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mit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 po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deck, 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ov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me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n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tos excessivos).</a:t>
            </a:r>
          </a:p>
          <a:p>
            <a:pPr algn="l" marL="847352" indent="-282451" lvl="2">
              <a:lnSpc>
                <a:spcPts val="2747"/>
              </a:lnSpc>
              <a:buFont typeface="Arial"/>
              <a:buChar char="⚬"/>
            </a:pP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Fitness = 1 / (1 + função objetivo).</a:t>
            </a:r>
          </a:p>
          <a:p>
            <a:pPr algn="l">
              <a:lnSpc>
                <a:spcPts val="2747"/>
              </a:lnSpc>
            </a:pP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  4. </a:t>
            </a:r>
            <a:r>
              <a:rPr lang="en-US" sz="1962" b="true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Seleção:</a:t>
            </a:r>
          </a:p>
          <a:p>
            <a:pPr algn="l" marL="847352" indent="-282451" lvl="2">
              <a:lnSpc>
                <a:spcPts val="2747"/>
              </a:lnSpc>
              <a:buFont typeface="Arial"/>
              <a:buChar char="⚬"/>
            </a:pP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Método da roleta viciada (prob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b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il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í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tico, favorecendo m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el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h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es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in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d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víduo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), baseando-se na somatória de todas as avaliações dos indivíduos de uma dada geração.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41904" y="1047750"/>
            <a:ext cx="7485147" cy="456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b="true" sz="3156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FLUXO RESUMIDO DO ALGORITMO</a:t>
            </a:r>
          </a:p>
        </p:txBody>
      </p:sp>
      <p:sp>
        <p:nvSpPr>
          <p:cNvPr name="TextBox 7" id="7"/>
          <p:cNvSpPr txBox="true"/>
          <p:nvPr/>
        </p:nvSpPr>
        <p:spPr>
          <a:xfrm rot="-5400000">
            <a:off x="-1735479" y="4915159"/>
            <a:ext cx="5547408" cy="456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6"/>
              </a:lnSpc>
            </a:pPr>
            <a:r>
              <a:rPr lang="en-US" b="true" sz="3156">
                <a:solidFill>
                  <a:srgbClr val="F7EDE1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MÉTODO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70322" y="2048997"/>
            <a:ext cx="8026177" cy="616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7"/>
              </a:lnSpc>
            </a:pPr>
            <a:r>
              <a:rPr lang="en-US" sz="1962" b="true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   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5.</a:t>
            </a:r>
            <a:r>
              <a:rPr lang="en-US" sz="1962" b="true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 Crossover (One-Point):</a:t>
            </a:r>
          </a:p>
          <a:p>
            <a:pPr algn="l" marL="847350" indent="-282450" lvl="2">
              <a:lnSpc>
                <a:spcPts val="2747"/>
              </a:lnSpc>
              <a:buFont typeface="Arial"/>
              <a:buChar char="⚬"/>
            </a:pP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Corte 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aleatório nos cromossomos e recombinação dos genes.</a:t>
            </a:r>
          </a:p>
          <a:p>
            <a:pPr algn="l" marL="847350" indent="-282450" lvl="2">
              <a:lnSpc>
                <a:spcPts val="2747"/>
              </a:lnSpc>
              <a:buFont typeface="Arial"/>
              <a:buChar char="⚬"/>
            </a:pP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Aplic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ação de função de reparo para manter soluções válidas.</a:t>
            </a:r>
          </a:p>
          <a:p>
            <a:pPr algn="l">
              <a:lnSpc>
                <a:spcPts val="2747"/>
              </a:lnSpc>
            </a:pP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  6.</a:t>
            </a:r>
            <a:r>
              <a:rPr lang="en-US" sz="1962" b="true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 Mut</a:t>
            </a:r>
            <a:r>
              <a:rPr lang="en-US" sz="1962" b="true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ação:</a:t>
            </a:r>
          </a:p>
          <a:p>
            <a:pPr algn="l" marL="847350" indent="-282450" lvl="2">
              <a:lnSpc>
                <a:spcPts val="2747"/>
              </a:lnSpc>
              <a:buFont typeface="Arial"/>
              <a:buChar char="⚬"/>
            </a:pP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Sw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ap das posições finais de dois contêineres.</a:t>
            </a:r>
          </a:p>
          <a:p>
            <a:pPr algn="l" marL="847350" indent="-282450" lvl="2">
              <a:lnSpc>
                <a:spcPts val="2747"/>
              </a:lnSpc>
              <a:buFont typeface="Arial"/>
              <a:buChar char="⚬"/>
            </a:pP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ecalcular movimentos.</a:t>
            </a:r>
          </a:p>
          <a:p>
            <a:pPr algn="l">
              <a:lnSpc>
                <a:spcPts val="2747"/>
              </a:lnSpc>
            </a:pP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  7.</a:t>
            </a:r>
            <a:r>
              <a:rPr lang="en-US" sz="1962" b="true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 Construção das Novas Gerações</a:t>
            </a:r>
            <a:r>
              <a:rPr lang="en-US" sz="1962" b="true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:</a:t>
            </a:r>
          </a:p>
          <a:p>
            <a:pPr algn="l" marL="847350" indent="-282450" lvl="2">
              <a:lnSpc>
                <a:spcPts val="2747"/>
              </a:lnSpc>
              <a:buFont typeface="Arial"/>
              <a:buChar char="⚬"/>
            </a:pP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Repetir seleção, crossover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e mut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ação até formar nova população.</a:t>
            </a:r>
          </a:p>
          <a:p>
            <a:pPr algn="l">
              <a:lnSpc>
                <a:spcPts val="2747"/>
              </a:lnSpc>
            </a:pP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  8.</a:t>
            </a:r>
            <a:r>
              <a:rPr lang="en-US" sz="1962" b="true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 </a:t>
            </a:r>
            <a:r>
              <a:rPr lang="en-US" sz="1962" b="true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Ev</a:t>
            </a:r>
            <a:r>
              <a:rPr lang="en-US" sz="1962" b="true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olução:</a:t>
            </a:r>
          </a:p>
          <a:p>
            <a:pPr algn="l" marL="847350" indent="-282450" lvl="2">
              <a:lnSpc>
                <a:spcPts val="2747"/>
              </a:lnSpc>
              <a:buFont typeface="Arial"/>
              <a:buChar char="⚬"/>
            </a:pP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Atualizar histórico de melhores indivíduos (por g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eração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e globalme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n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te).</a:t>
            </a:r>
          </a:p>
          <a:p>
            <a:pPr algn="l" marL="847350" indent="-282450" lvl="2">
              <a:lnSpc>
                <a:spcPts val="2747"/>
              </a:lnSpc>
              <a:buFont typeface="Arial"/>
              <a:buChar char="⚬"/>
            </a:pP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Ajus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te dinâmico das taxas de mutação e crossover de acordo com a estagnação das gerações.</a:t>
            </a:r>
          </a:p>
          <a:p>
            <a:pPr algn="l">
              <a:lnSpc>
                <a:spcPts val="2747"/>
              </a:lnSpc>
            </a:pP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   9.</a:t>
            </a:r>
            <a:r>
              <a:rPr lang="en-US" sz="1962" b="true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 Fina</a:t>
            </a:r>
            <a:r>
              <a:rPr lang="en-US" sz="1962" b="true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lização:</a:t>
            </a:r>
          </a:p>
          <a:p>
            <a:pPr algn="l" marL="847350" indent="-282450" lvl="2">
              <a:lnSpc>
                <a:spcPts val="2747"/>
              </a:lnSpc>
              <a:buFont typeface="Arial"/>
              <a:buChar char="⚬"/>
            </a:pP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Plo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tagem 2D/3D da melhor solução encontrada (po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ição dos c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ontêine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es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na balsa</a:t>
            </a: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).</a:t>
            </a:r>
          </a:p>
          <a:p>
            <a:pPr algn="l" marL="847350" indent="-282450" lvl="2">
              <a:lnSpc>
                <a:spcPts val="2747"/>
              </a:lnSpc>
              <a:buFont typeface="Arial"/>
              <a:buChar char="⚬"/>
            </a:pPr>
            <a:r>
              <a:rPr lang="en-US" sz="1962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Plotagem da evolução do Algoritmo Genético ao longo do processamento através de um Gráfico de 3 Eixos.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3455" y="0"/>
            <a:ext cx="3086100" cy="11008349"/>
            <a:chOff x="0" y="0"/>
            <a:chExt cx="812800" cy="289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899318"/>
            </a:xfrm>
            <a:custGeom>
              <a:avLst/>
              <a:gdLst/>
              <a:ahLst/>
              <a:cxnLst/>
              <a:rect r="r" b="b" t="t" l="l"/>
              <a:pathLst>
                <a:path h="289931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899318"/>
                  </a:lnTo>
                  <a:lnTo>
                    <a:pt x="0" y="2899318"/>
                  </a:lnTo>
                  <a:close/>
                </a:path>
              </a:pathLst>
            </a:custGeom>
            <a:solidFill>
              <a:srgbClr val="416B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2946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223980" y="1218615"/>
            <a:ext cx="7253332" cy="3572266"/>
          </a:xfrm>
          <a:custGeom>
            <a:avLst/>
            <a:gdLst/>
            <a:ahLst/>
            <a:cxnLst/>
            <a:rect r="r" b="b" t="t" l="l"/>
            <a:pathLst>
              <a:path h="3572266" w="7253332">
                <a:moveTo>
                  <a:pt x="0" y="0"/>
                </a:moveTo>
                <a:lnTo>
                  <a:pt x="7253332" y="0"/>
                </a:lnTo>
                <a:lnTo>
                  <a:pt x="7253332" y="3572266"/>
                </a:lnTo>
                <a:lnTo>
                  <a:pt x="0" y="35722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23980" y="572018"/>
            <a:ext cx="6725486" cy="456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b="true" sz="3156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FLUXO DO CÓDIGO</a:t>
            </a:r>
          </a:p>
        </p:txBody>
      </p:sp>
      <p:sp>
        <p:nvSpPr>
          <p:cNvPr name="TextBox 7" id="7"/>
          <p:cNvSpPr txBox="true"/>
          <p:nvPr/>
        </p:nvSpPr>
        <p:spPr>
          <a:xfrm rot="-5400000">
            <a:off x="-1735479" y="4915159"/>
            <a:ext cx="5547408" cy="456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6"/>
              </a:lnSpc>
            </a:pPr>
            <a:r>
              <a:rPr lang="en-US" b="true" sz="3156">
                <a:solidFill>
                  <a:srgbClr val="F7EDE1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MÉTODO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868234" y="2866903"/>
            <a:ext cx="7265358" cy="554874"/>
          </a:xfrm>
          <a:custGeom>
            <a:avLst/>
            <a:gdLst/>
            <a:ahLst/>
            <a:cxnLst/>
            <a:rect r="r" b="b" t="t" l="l"/>
            <a:pathLst>
              <a:path h="554874" w="7265358">
                <a:moveTo>
                  <a:pt x="0" y="0"/>
                </a:moveTo>
                <a:lnTo>
                  <a:pt x="7265358" y="0"/>
                </a:lnTo>
                <a:lnTo>
                  <a:pt x="7265358" y="554873"/>
                </a:lnTo>
                <a:lnTo>
                  <a:pt x="0" y="5548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" t="0" r="-8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868234" y="3488451"/>
            <a:ext cx="7962948" cy="1067413"/>
          </a:xfrm>
          <a:custGeom>
            <a:avLst/>
            <a:gdLst/>
            <a:ahLst/>
            <a:cxnLst/>
            <a:rect r="r" b="b" t="t" l="l"/>
            <a:pathLst>
              <a:path h="1067413" w="7962948">
                <a:moveTo>
                  <a:pt x="0" y="0"/>
                </a:moveTo>
                <a:lnTo>
                  <a:pt x="7962948" y="0"/>
                </a:lnTo>
                <a:lnTo>
                  <a:pt x="7962948" y="1067414"/>
                </a:lnTo>
                <a:lnTo>
                  <a:pt x="0" y="10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0" t="0" r="-80" b="-87734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621071" y="1000125"/>
            <a:ext cx="8512302" cy="914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768" indent="-190384" lvl="1">
              <a:lnSpc>
                <a:spcPts val="2469"/>
              </a:lnSpc>
              <a:buFont typeface="Arial"/>
              <a:buChar char="•"/>
            </a:pPr>
            <a:r>
              <a:rPr lang="en-US" sz="1763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Função biobjetiva (minimizar instabilidade e minimizar a quantidade de movimentos)</a:t>
            </a:r>
          </a:p>
          <a:p>
            <a:pPr algn="l" marL="761536" indent="-253845" lvl="2">
              <a:lnSpc>
                <a:spcPts val="2469"/>
              </a:lnSpc>
              <a:buFont typeface="Arial"/>
              <a:buChar char="⚬"/>
            </a:pPr>
            <a:r>
              <a:rPr lang="en-US" sz="1763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Utilização de pesos (“alfa” e “beta”) para determinar a prioridade da solução (estabilidade ou quantidade de movimentos).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95217" y="631962"/>
            <a:ext cx="8308982" cy="327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4"/>
              </a:lnSpc>
              <a:spcBef>
                <a:spcPct val="0"/>
              </a:spcBef>
            </a:pPr>
            <a:r>
              <a:rPr lang="en-US" b="true" sz="2234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ETAPA 2 DO FLUXO DO CÓDIGO (FUNÇÃO FITNESS)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19745" y="1885889"/>
            <a:ext cx="7594386" cy="914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768" indent="-190384" lvl="1">
              <a:lnSpc>
                <a:spcPts val="2469"/>
              </a:lnSpc>
              <a:buFont typeface="Arial"/>
              <a:buChar char="•"/>
            </a:pPr>
            <a:r>
              <a:rPr lang="en-US" sz="1763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 função de fitness do problema ficou encarregada de utilizar as informações de um indivíduo para tentar solucionar o problema com os genes dos seus cromossomos.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42936" y="4989358"/>
            <a:ext cx="7268622" cy="514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8"/>
              </a:lnSpc>
              <a:spcBef>
                <a:spcPct val="0"/>
              </a:spcBef>
            </a:pPr>
            <a:r>
              <a:rPr lang="en-US" b="true" sz="1839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ETAPA 1 DO FLUXO DO CÓDIGO (ESTRUTURAR CROMOSSOMO)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23980" y="5534707"/>
            <a:ext cx="6899575" cy="4250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763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 função acima estrutura o cromossomo do indivíduo da seguinte forma:</a:t>
            </a:r>
          </a:p>
          <a:p>
            <a:pPr algn="l" marL="380768" indent="-190384" lvl="1">
              <a:lnSpc>
                <a:spcPts val="2469"/>
              </a:lnSpc>
              <a:buAutoNum type="arabicPeriod" startAt="1"/>
            </a:pPr>
            <a:r>
              <a:rPr lang="en-US" sz="1763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As posições iniciais e as possíveis posições finais são instanciadas de acordo com as matrizes fornecidas da Balsa, bem como do Terminal Portuário. </a:t>
            </a:r>
          </a:p>
          <a:p>
            <a:pPr algn="l" marL="380768" indent="-190384" lvl="1">
              <a:lnSpc>
                <a:spcPts val="2469"/>
              </a:lnSpc>
              <a:buAutoNum type="arabicPeriod" startAt="1"/>
            </a:pPr>
            <a:r>
              <a:rPr lang="en-US" sz="1763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Para todos os contêineres no terminal portuário (identificados pela sua posição inicial), é preciso se saber uma posição final na balsa, que é escolhida aleatoriamente inicialmente, isto é feito através de uma função selecionarPosicao(), que também previne contra o problema de contêineres flutuarem e desobedecerem às restrições.</a:t>
            </a:r>
          </a:p>
          <a:p>
            <a:pPr algn="l" marL="380768" indent="-190384" lvl="1">
              <a:lnSpc>
                <a:spcPts val="2469"/>
              </a:lnSpc>
              <a:buAutoNum type="arabicPeriod" startAt="1"/>
            </a:pPr>
            <a:r>
              <a:rPr lang="en-US" sz="1763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 cromossomo é estruturado como sendo uma “lista de listas”, disposto da seguinte forma:</a:t>
            </a:r>
          </a:p>
          <a:p>
            <a:pPr algn="l" marL="380768" indent="-190384" lvl="1">
              <a:lnSpc>
                <a:spcPts val="2469"/>
              </a:lnSpc>
              <a:buFont typeface="Arial"/>
              <a:buChar char="•"/>
            </a:pPr>
            <a:r>
              <a:rPr lang="en-US" sz="1763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[[X1, Y1, Z1], [X2, Y2, Z2]</a:t>
            </a:r>
          </a:p>
          <a:p>
            <a:pPr algn="l" marL="761537" indent="-253846" lvl="2">
              <a:lnSpc>
                <a:spcPts val="2469"/>
              </a:lnSpc>
              <a:buFont typeface="Arial"/>
              <a:buChar char="⚬"/>
            </a:pPr>
            <a:r>
              <a:rPr lang="en-US" sz="1763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X1, Y1 e Z1 são as coordenadas iniciais;</a:t>
            </a:r>
          </a:p>
          <a:p>
            <a:pPr algn="l" marL="761537" indent="-253846" lvl="2">
              <a:lnSpc>
                <a:spcPts val="2469"/>
              </a:lnSpc>
              <a:buFont typeface="Arial"/>
              <a:buChar char="⚬"/>
            </a:pPr>
            <a:r>
              <a:rPr lang="en-US" sz="1763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X2, Y2 e Z2 são as coordenadas finais.</a:t>
            </a:r>
          </a:p>
        </p:txBody>
      </p:sp>
      <p:sp>
        <p:nvSpPr>
          <p:cNvPr name="AutoShape 15" id="15"/>
          <p:cNvSpPr/>
          <p:nvPr/>
        </p:nvSpPr>
        <p:spPr>
          <a:xfrm>
            <a:off x="9621071" y="-644392"/>
            <a:ext cx="0" cy="1165451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9868234" y="5580374"/>
            <a:ext cx="7550041" cy="959611"/>
          </a:xfrm>
          <a:custGeom>
            <a:avLst/>
            <a:gdLst/>
            <a:ahLst/>
            <a:cxnLst/>
            <a:rect r="r" b="b" t="t" l="l"/>
            <a:pathLst>
              <a:path h="959611" w="7550041">
                <a:moveTo>
                  <a:pt x="0" y="0"/>
                </a:moveTo>
                <a:lnTo>
                  <a:pt x="7550041" y="0"/>
                </a:lnTo>
                <a:lnTo>
                  <a:pt x="7550041" y="959611"/>
                </a:lnTo>
                <a:lnTo>
                  <a:pt x="0" y="9596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7678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399064" y="8162156"/>
            <a:ext cx="6203698" cy="1682753"/>
          </a:xfrm>
          <a:custGeom>
            <a:avLst/>
            <a:gdLst/>
            <a:ahLst/>
            <a:cxnLst/>
            <a:rect r="r" b="b" t="t" l="l"/>
            <a:pathLst>
              <a:path h="1682753" w="6203698">
                <a:moveTo>
                  <a:pt x="0" y="0"/>
                </a:moveTo>
                <a:lnTo>
                  <a:pt x="6203698" y="0"/>
                </a:lnTo>
                <a:lnTo>
                  <a:pt x="6203698" y="1682753"/>
                </a:lnTo>
                <a:lnTo>
                  <a:pt x="0" y="16827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621071" y="4605903"/>
            <a:ext cx="8251349" cy="898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9985" indent="-189992" lvl="1">
              <a:lnSpc>
                <a:spcPts val="2464"/>
              </a:lnSpc>
              <a:buFont typeface="Arial"/>
              <a:buChar char="•"/>
            </a:pPr>
            <a:r>
              <a:rPr lang="en-US" sz="1760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Balanço (Estabilidade)</a:t>
            </a:r>
          </a:p>
          <a:p>
            <a:pPr algn="l" marL="759969" indent="-253323" lvl="2">
              <a:lnSpc>
                <a:spcPts val="2464"/>
              </a:lnSpc>
              <a:buFont typeface="Arial"/>
              <a:buChar char="⚬"/>
            </a:pPr>
            <a:r>
              <a:rPr lang="en-US" sz="1760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Mede a distância entre o centro de massa real e o ideal (quanto maior, mais instável)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38199" y="6587610"/>
            <a:ext cx="8210110" cy="1507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9985" indent="-189992" lvl="1">
              <a:lnSpc>
                <a:spcPts val="2464"/>
              </a:lnSpc>
              <a:buFont typeface="Arial"/>
              <a:buChar char="•"/>
            </a:pPr>
            <a:r>
              <a:rPr lang="en-US" sz="1760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Pen</a:t>
            </a:r>
            <a:r>
              <a:rPr lang="en-US" sz="1760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alidades:</a:t>
            </a:r>
          </a:p>
          <a:p>
            <a:pPr algn="l" marL="759969" indent="-253323" lvl="2">
              <a:lnSpc>
                <a:spcPts val="2464"/>
              </a:lnSpc>
              <a:buFont typeface="Arial"/>
              <a:buChar char="⚬"/>
            </a:pPr>
            <a:r>
              <a:rPr lang="en-US" sz="1760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São aplicadas conforme as restrições vão sendo violadas. As restrições (heurísticas) utilizadas foram as que penalizam a disposição ideal que identifica estabilidade, bem como a violação da quantidade por deck e a quantidade de movimentos sendo alta.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3455" y="0"/>
            <a:ext cx="3086100" cy="11008349"/>
            <a:chOff x="0" y="0"/>
            <a:chExt cx="812800" cy="289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899318"/>
            </a:xfrm>
            <a:custGeom>
              <a:avLst/>
              <a:gdLst/>
              <a:ahLst/>
              <a:cxnLst/>
              <a:rect r="r" b="b" t="t" l="l"/>
              <a:pathLst>
                <a:path h="289931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899318"/>
                  </a:lnTo>
                  <a:lnTo>
                    <a:pt x="0" y="2899318"/>
                  </a:lnTo>
                  <a:close/>
                </a:path>
              </a:pathLst>
            </a:custGeom>
            <a:solidFill>
              <a:srgbClr val="416B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2946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986148" y="4920915"/>
            <a:ext cx="8903402" cy="445170"/>
          </a:xfrm>
          <a:custGeom>
            <a:avLst/>
            <a:gdLst/>
            <a:ahLst/>
            <a:cxnLst/>
            <a:rect r="r" b="b" t="t" l="l"/>
            <a:pathLst>
              <a:path h="445170" w="8903402">
                <a:moveTo>
                  <a:pt x="0" y="0"/>
                </a:moveTo>
                <a:lnTo>
                  <a:pt x="8903403" y="0"/>
                </a:lnTo>
                <a:lnTo>
                  <a:pt x="8903403" y="445170"/>
                </a:lnTo>
                <a:lnTo>
                  <a:pt x="0" y="4451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87220" y="5964843"/>
            <a:ext cx="11301259" cy="1087746"/>
          </a:xfrm>
          <a:custGeom>
            <a:avLst/>
            <a:gdLst/>
            <a:ahLst/>
            <a:cxnLst/>
            <a:rect r="r" b="b" t="t" l="l"/>
            <a:pathLst>
              <a:path h="1087746" w="11301259">
                <a:moveTo>
                  <a:pt x="0" y="0"/>
                </a:moveTo>
                <a:lnTo>
                  <a:pt x="11301259" y="0"/>
                </a:lnTo>
                <a:lnTo>
                  <a:pt x="11301259" y="1087746"/>
                </a:lnTo>
                <a:lnTo>
                  <a:pt x="0" y="10877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11472" y="7958791"/>
            <a:ext cx="2369749" cy="678476"/>
          </a:xfrm>
          <a:custGeom>
            <a:avLst/>
            <a:gdLst/>
            <a:ahLst/>
            <a:cxnLst/>
            <a:rect r="r" b="b" t="t" l="l"/>
            <a:pathLst>
              <a:path h="678476" w="2369749">
                <a:moveTo>
                  <a:pt x="0" y="0"/>
                </a:moveTo>
                <a:lnTo>
                  <a:pt x="2369749" y="0"/>
                </a:lnTo>
                <a:lnTo>
                  <a:pt x="2369749" y="678476"/>
                </a:lnTo>
                <a:lnTo>
                  <a:pt x="0" y="678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41904" y="2051198"/>
            <a:ext cx="8318238" cy="456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b="true" sz="3156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FLUXO DO CÓDIGO (FUNÇÃO FITNESS)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1735479" y="4915159"/>
            <a:ext cx="5547408" cy="456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6"/>
              </a:lnSpc>
            </a:pPr>
            <a:r>
              <a:rPr lang="en-US" b="true" sz="3156">
                <a:solidFill>
                  <a:srgbClr val="F7EDE1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MÉTODO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71074" y="3329076"/>
            <a:ext cx="13933550" cy="1298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Fórmula Final</a:t>
            </a:r>
          </a:p>
          <a:p>
            <a:pPr algn="l" marL="1075697" indent="-358566" lvl="2">
              <a:lnSpc>
                <a:spcPts val="3487"/>
              </a:lnSpc>
              <a:buFont typeface="Arial"/>
              <a:buChar char="⚬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Quanto maior o fitness (mais próximo de 1), melhor a solução</a:t>
            </a:r>
          </a:p>
          <a:p>
            <a:pPr algn="l" marL="1075697" indent="-358566" lvl="2">
              <a:lnSpc>
                <a:spcPts val="3487"/>
              </a:lnSpc>
              <a:buFont typeface="Arial"/>
              <a:buChar char="⚬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 denominador soma todos os aspectos negativos (balanceamento, penalidades, movimentos)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25624" y="7624089"/>
            <a:ext cx="9134518" cy="1997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601" indent="-176301" lvl="1">
              <a:lnSpc>
                <a:spcPts val="2286"/>
              </a:lnSpc>
              <a:buFont typeface="Arial"/>
              <a:buChar char="•"/>
            </a:pPr>
            <a:r>
              <a:rPr lang="en-US" sz="1633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Componentes da Fórmula:</a:t>
            </a:r>
          </a:p>
          <a:p>
            <a:pPr algn="l" marL="705202" indent="-235067" lvl="2">
              <a:lnSpc>
                <a:spcPts val="2286"/>
              </a:lnSpc>
              <a:buFont typeface="Arial"/>
              <a:buChar char="⚬"/>
            </a:pPr>
            <a:r>
              <a:rPr lang="en-US" sz="1633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α</a:t>
            </a:r>
            <a:r>
              <a:rPr lang="en-US" sz="1633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(0.7): Peso do equilíbrio (bal</a:t>
            </a:r>
            <a:r>
              <a:rPr lang="en-US" sz="1633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anço + formação em cruz)</a:t>
            </a:r>
          </a:p>
          <a:p>
            <a:pPr algn="l" marL="705202" indent="-235067" lvl="2">
              <a:lnSpc>
                <a:spcPts val="2286"/>
              </a:lnSpc>
              <a:buFont typeface="Arial"/>
              <a:buChar char="⚬"/>
            </a:pPr>
            <a:r>
              <a:rPr lang="en-US" sz="1633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β</a:t>
            </a:r>
            <a:r>
              <a:rPr lang="en-US" sz="1633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(0.3): Peso da eficiência (movimentos)</a:t>
            </a:r>
          </a:p>
          <a:p>
            <a:pPr algn="l" marL="705202" indent="-235067" lvl="2">
              <a:lnSpc>
                <a:spcPts val="2286"/>
              </a:lnSpc>
              <a:buFont typeface="Arial"/>
              <a:buChar char="⚬"/>
            </a:pPr>
            <a:r>
              <a:rPr lang="en-US" sz="1633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balanço</a:t>
            </a:r>
            <a:r>
              <a:rPr lang="en-US" sz="1633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: Distância euclidiana entre centro de massa e centro geométrico</a:t>
            </a:r>
          </a:p>
          <a:p>
            <a:pPr algn="l" marL="705202" indent="-235067" lvl="2">
              <a:lnSpc>
                <a:spcPts val="2286"/>
              </a:lnSpc>
              <a:buFont typeface="Arial"/>
              <a:buChar char="⚬"/>
            </a:pPr>
            <a:r>
              <a:rPr lang="en-US" sz="1633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penalidade_cruz: Penalização por desvios da formação em cruz (×3×3)</a:t>
            </a:r>
          </a:p>
          <a:p>
            <a:pPr algn="l" marL="705202" indent="-235067" lvl="2">
              <a:lnSpc>
                <a:spcPts val="2286"/>
              </a:lnSpc>
              <a:buFont typeface="Arial"/>
              <a:buChar char="⚬"/>
            </a:pPr>
            <a:r>
              <a:rPr lang="en-US" sz="1633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movimentos: Total de movimentos realizados</a:t>
            </a:r>
          </a:p>
          <a:p>
            <a:pPr algn="l" marL="705202" indent="-235067" lvl="2">
              <a:lnSpc>
                <a:spcPts val="2286"/>
              </a:lnSpc>
              <a:buFont typeface="Arial"/>
              <a:buChar char="⚬"/>
            </a:pPr>
            <a:r>
              <a:rPr lang="en-US" sz="1633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penalidade_deck: Violação de limites de contêineres por deck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16749" y="8796591"/>
            <a:ext cx="4759195" cy="461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5"/>
              </a:lnSpc>
            </a:pPr>
            <a:r>
              <a:rPr lang="en-US" sz="1289" b="true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OBS: Quanto maior o val</a:t>
            </a:r>
            <a:r>
              <a:rPr lang="en-US" b="true" sz="1289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or (próximo de 1), melhor a so</a:t>
            </a:r>
            <a:r>
              <a:rPr lang="en-US" b="true" sz="1289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lução.</a:t>
            </a:r>
            <a:r>
              <a:rPr lang="en-US" b="true" sz="1289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 O denominador agrega todas as penalidades.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1157978" y="7719567"/>
            <a:ext cx="0" cy="181369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3455" y="0"/>
            <a:ext cx="3086100" cy="11008349"/>
            <a:chOff x="0" y="0"/>
            <a:chExt cx="812800" cy="289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899318"/>
            </a:xfrm>
            <a:custGeom>
              <a:avLst/>
              <a:gdLst/>
              <a:ahLst/>
              <a:cxnLst/>
              <a:rect r="r" b="b" t="t" l="l"/>
              <a:pathLst>
                <a:path h="289931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899318"/>
                  </a:lnTo>
                  <a:lnTo>
                    <a:pt x="0" y="2899318"/>
                  </a:lnTo>
                  <a:close/>
                </a:path>
              </a:pathLst>
            </a:custGeom>
            <a:solidFill>
              <a:srgbClr val="416B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2946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41904" y="2051198"/>
            <a:ext cx="8318238" cy="456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b="true" sz="3156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FLUXO DO CÓDIGO (PENALIDADE)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-1735479" y="4915159"/>
            <a:ext cx="5547408" cy="456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6"/>
              </a:lnSpc>
            </a:pPr>
            <a:r>
              <a:rPr lang="en-US" b="true" sz="3156">
                <a:solidFill>
                  <a:srgbClr val="F7EDE1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MÉTODO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94675" y="3612159"/>
            <a:ext cx="7295945" cy="1298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Penalidade por Deck</a:t>
            </a:r>
          </a:p>
          <a:p>
            <a:pPr algn="l" marL="1075697" indent="-358566" lvl="2">
              <a:lnSpc>
                <a:spcPts val="3487"/>
              </a:lnSpc>
              <a:buFont typeface="Arial"/>
              <a:buChar char="⚬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Objetivo: Garantir 8-10 contêineres por deck.</a:t>
            </a:r>
          </a:p>
          <a:p>
            <a:pPr algn="l" marL="1075697" indent="-358566" lvl="2">
              <a:lnSpc>
                <a:spcPts val="3487"/>
              </a:lnSpc>
              <a:buFont typeface="Arial"/>
              <a:buChar char="⚬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Lógica: Penalidade quadrática por violação.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94675" y="5611616"/>
            <a:ext cx="7295945" cy="1736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Penalidade por Formação</a:t>
            </a:r>
          </a:p>
          <a:p>
            <a:pPr algn="l" marL="1075697" indent="-358566" lvl="2">
              <a:lnSpc>
                <a:spcPts val="3487"/>
              </a:lnSpc>
              <a:buFont typeface="Arial"/>
              <a:buChar char="⚬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Objetivo: Forçar disposição em cruz.</a:t>
            </a:r>
          </a:p>
          <a:p>
            <a:pPr algn="l" marL="1075697" indent="-358566" lvl="2">
              <a:lnSpc>
                <a:spcPts val="3487"/>
              </a:lnSpc>
              <a:buFont typeface="Arial"/>
              <a:buChar char="⚬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Lógica: Penalidade exponencial por distância do centro.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437850" y="531653"/>
            <a:ext cx="7425073" cy="9223693"/>
          </a:xfrm>
          <a:custGeom>
            <a:avLst/>
            <a:gdLst/>
            <a:ahLst/>
            <a:cxnLst/>
            <a:rect r="r" b="b" t="t" l="l"/>
            <a:pathLst>
              <a:path h="9223693" w="7425073">
                <a:moveTo>
                  <a:pt x="0" y="0"/>
                </a:moveTo>
                <a:lnTo>
                  <a:pt x="7425073" y="0"/>
                </a:lnTo>
                <a:lnTo>
                  <a:pt x="7425073" y="9223694"/>
                </a:lnTo>
                <a:lnTo>
                  <a:pt x="0" y="9223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7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3455" y="0"/>
            <a:ext cx="3086100" cy="11008349"/>
            <a:chOff x="0" y="0"/>
            <a:chExt cx="812800" cy="289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899318"/>
            </a:xfrm>
            <a:custGeom>
              <a:avLst/>
              <a:gdLst/>
              <a:ahLst/>
              <a:cxnLst/>
              <a:rect r="r" b="b" t="t" l="l"/>
              <a:pathLst>
                <a:path h="289931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899318"/>
                  </a:lnTo>
                  <a:lnTo>
                    <a:pt x="0" y="2899318"/>
                  </a:lnTo>
                  <a:close/>
                </a:path>
              </a:pathLst>
            </a:custGeom>
            <a:solidFill>
              <a:srgbClr val="416B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2946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41904" y="2051198"/>
            <a:ext cx="10727479" cy="456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b="true" sz="3156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FLUXO DO CÓDIGO (SELECIONAR POSIÇÃO)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-1735479" y="4915159"/>
            <a:ext cx="5547408" cy="456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6"/>
              </a:lnSpc>
            </a:pPr>
            <a:r>
              <a:rPr lang="en-US" b="true" sz="3156">
                <a:solidFill>
                  <a:srgbClr val="F7EDE1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MÉTODO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71074" y="3329076"/>
            <a:ext cx="13933550" cy="2175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Objetivo</a:t>
            </a:r>
          </a:p>
          <a:p>
            <a:pPr algn="l" marL="1075697" indent="-358566" lvl="2">
              <a:lnSpc>
                <a:spcPts val="3487"/>
              </a:lnSpc>
              <a:buFont typeface="Arial"/>
              <a:buChar char="⚬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Escolhe a melhor posição na balsa para cada contêiner, priorizando:</a:t>
            </a:r>
          </a:p>
          <a:p>
            <a:pPr algn="l" marL="1613545" indent="-403386" lvl="3">
              <a:lnSpc>
                <a:spcPts val="3487"/>
              </a:lnSpc>
              <a:buFont typeface="Arial"/>
              <a:buChar char="￭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</a:t>
            </a: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entro da balsa (formação em cruz)</a:t>
            </a:r>
          </a:p>
          <a:p>
            <a:pPr algn="l" marL="1613545" indent="-403386" lvl="3">
              <a:lnSpc>
                <a:spcPts val="3487"/>
              </a:lnSpc>
              <a:buFont typeface="Arial"/>
              <a:buChar char="￭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Respeito aos limites por deck (8-10 contêineres)</a:t>
            </a:r>
          </a:p>
          <a:p>
            <a:pPr algn="l" marL="1613545" indent="-403386" lvl="3">
              <a:lnSpc>
                <a:spcPts val="3487"/>
              </a:lnSpc>
              <a:buFont typeface="Arial"/>
              <a:buChar char="￭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Suporte físico (contêineres não flutuantes)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71074" y="5954453"/>
            <a:ext cx="13933550" cy="870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</a:t>
            </a: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riorização de Posições</a:t>
            </a:r>
          </a:p>
          <a:p>
            <a:pPr algn="l" marL="1075697" indent="-358566" lvl="2">
              <a:lnSpc>
                <a:spcPts val="3487"/>
              </a:lnSpc>
              <a:buFont typeface="Arial"/>
              <a:buChar char="⚬"/>
            </a:pPr>
            <a:r>
              <a:rPr lang="en-US" sz="2491" i="true">
                <a:solidFill>
                  <a:srgbClr val="202125"/>
                </a:solidFill>
                <a:latin typeface="Akzidenz-Grotesk Italics"/>
                <a:ea typeface="Akzidenz-Grotesk Italics"/>
                <a:cs typeface="Akzidenz-Grotesk Italics"/>
                <a:sym typeface="Akzidenz-Grotesk Italics"/>
              </a:rPr>
              <a:t>posicoes_ordenadas = [centro] + [cruz] + [outras]</a:t>
            </a: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 # Ordenadas por proximidade ao centro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71074" y="7262776"/>
            <a:ext cx="13933550" cy="2184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</a:t>
            </a: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estrições Verificadas</a:t>
            </a:r>
          </a:p>
          <a:p>
            <a:pPr algn="l" marL="1075697" indent="-358566" lvl="2">
              <a:lnSpc>
                <a:spcPts val="3487"/>
              </a:lnSpc>
              <a:buFont typeface="Arial"/>
              <a:buChar char="⚬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Deck não está cheio (</a:t>
            </a:r>
            <a:r>
              <a:rPr lang="en-US" sz="2491" i="true">
                <a:solidFill>
                  <a:srgbClr val="202125"/>
                </a:solidFill>
                <a:latin typeface="Akzidenz-Grotesk Italics"/>
                <a:ea typeface="Akzidenz-Grotesk Italics"/>
                <a:cs typeface="Akzidenz-Grotesk Italics"/>
                <a:sym typeface="Akzidenz-Grotesk Italics"/>
              </a:rPr>
              <a:t>qntPerDeck</a:t>
            </a: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&lt; </a:t>
            </a:r>
            <a:r>
              <a:rPr lang="en-US" sz="2491" i="true">
                <a:solidFill>
                  <a:srgbClr val="202125"/>
                </a:solidFill>
                <a:latin typeface="Akzidenz-Grotesk Italics"/>
                <a:ea typeface="Akzidenz-Grotesk Italics"/>
                <a:cs typeface="Akzidenz-Grotesk Italics"/>
                <a:sym typeface="Akzidenz-Grotesk Italics"/>
              </a:rPr>
              <a:t>maxPerDeck</a:t>
            </a: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)</a:t>
            </a:r>
          </a:p>
          <a:p>
            <a:pPr algn="l" marL="1075697" indent="-358566" lvl="2">
              <a:lnSpc>
                <a:spcPts val="3487"/>
              </a:lnSpc>
              <a:buFont typeface="Arial"/>
              <a:buChar char="⚬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Tem contêiner abaixo (exceto no deck 1)</a:t>
            </a:r>
          </a:p>
          <a:p>
            <a:pPr algn="l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Fallback</a:t>
            </a:r>
          </a:p>
          <a:p>
            <a:pPr algn="l" marL="1075697" indent="-358566" lvl="2">
              <a:lnSpc>
                <a:spcPts val="3487"/>
              </a:lnSpc>
              <a:buFont typeface="Arial"/>
              <a:buChar char="⚬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Se não achar posição ideal, usa seleção aleatória com as mesmas restrições.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3455" y="0"/>
            <a:ext cx="3086100" cy="11008349"/>
            <a:chOff x="0" y="0"/>
            <a:chExt cx="812800" cy="289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899318"/>
            </a:xfrm>
            <a:custGeom>
              <a:avLst/>
              <a:gdLst/>
              <a:ahLst/>
              <a:cxnLst/>
              <a:rect r="r" b="b" t="t" l="l"/>
              <a:pathLst>
                <a:path h="289931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899318"/>
                  </a:lnTo>
                  <a:lnTo>
                    <a:pt x="0" y="2899318"/>
                  </a:lnTo>
                  <a:close/>
                </a:path>
              </a:pathLst>
            </a:custGeom>
            <a:solidFill>
              <a:srgbClr val="416B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2946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141904" y="3061667"/>
            <a:ext cx="7699391" cy="6024773"/>
          </a:xfrm>
          <a:custGeom>
            <a:avLst/>
            <a:gdLst/>
            <a:ahLst/>
            <a:cxnLst/>
            <a:rect r="r" b="b" t="t" l="l"/>
            <a:pathLst>
              <a:path h="6024773" w="7699391">
                <a:moveTo>
                  <a:pt x="0" y="0"/>
                </a:moveTo>
                <a:lnTo>
                  <a:pt x="7699391" y="0"/>
                </a:lnTo>
                <a:lnTo>
                  <a:pt x="7699391" y="6024773"/>
                </a:lnTo>
                <a:lnTo>
                  <a:pt x="0" y="60247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45984" y="2895574"/>
            <a:ext cx="5713316" cy="6356958"/>
          </a:xfrm>
          <a:custGeom>
            <a:avLst/>
            <a:gdLst/>
            <a:ahLst/>
            <a:cxnLst/>
            <a:rect r="r" b="b" t="t" l="l"/>
            <a:pathLst>
              <a:path h="6356958" w="5713316">
                <a:moveTo>
                  <a:pt x="0" y="0"/>
                </a:moveTo>
                <a:lnTo>
                  <a:pt x="5713316" y="0"/>
                </a:lnTo>
                <a:lnTo>
                  <a:pt x="5713316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141904" y="2051198"/>
            <a:ext cx="10727479" cy="456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b="true" sz="3156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FLUXO DO CÓDIGO (SELECIONAR POSIÇÃO)</a:t>
            </a:r>
          </a:p>
        </p:txBody>
      </p:sp>
      <p:sp>
        <p:nvSpPr>
          <p:cNvPr name="TextBox 8" id="8"/>
          <p:cNvSpPr txBox="true"/>
          <p:nvPr/>
        </p:nvSpPr>
        <p:spPr>
          <a:xfrm rot="-5400000">
            <a:off x="-1735479" y="4915159"/>
            <a:ext cx="5547408" cy="456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6"/>
              </a:lnSpc>
            </a:pPr>
            <a:r>
              <a:rPr lang="en-US" b="true" sz="3156">
                <a:solidFill>
                  <a:srgbClr val="F7EDE1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MÉTODO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3455" y="0"/>
            <a:ext cx="3086100" cy="11008349"/>
            <a:chOff x="0" y="0"/>
            <a:chExt cx="812800" cy="289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899318"/>
            </a:xfrm>
            <a:custGeom>
              <a:avLst/>
              <a:gdLst/>
              <a:ahLst/>
              <a:cxnLst/>
              <a:rect r="r" b="b" t="t" l="l"/>
              <a:pathLst>
                <a:path h="289931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899318"/>
                  </a:lnTo>
                  <a:lnTo>
                    <a:pt x="0" y="2899318"/>
                  </a:lnTo>
                  <a:close/>
                </a:path>
              </a:pathLst>
            </a:custGeom>
            <a:solidFill>
              <a:srgbClr val="416B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2946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09913" y="8294425"/>
            <a:ext cx="5255873" cy="644818"/>
          </a:xfrm>
          <a:custGeom>
            <a:avLst/>
            <a:gdLst/>
            <a:ahLst/>
            <a:cxnLst/>
            <a:rect r="r" b="b" t="t" l="l"/>
            <a:pathLst>
              <a:path h="644818" w="5255873">
                <a:moveTo>
                  <a:pt x="0" y="0"/>
                </a:moveTo>
                <a:lnTo>
                  <a:pt x="5255873" y="0"/>
                </a:lnTo>
                <a:lnTo>
                  <a:pt x="5255873" y="644818"/>
                </a:lnTo>
                <a:lnTo>
                  <a:pt x="0" y="6448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41904" y="2051198"/>
            <a:ext cx="12626632" cy="456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b="true" sz="3156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IMPLEMENTAÇÃO DO ALGORITMO GENÉTICO ADAPTATIVO</a:t>
            </a:r>
          </a:p>
        </p:txBody>
      </p:sp>
      <p:sp>
        <p:nvSpPr>
          <p:cNvPr name="TextBox 7" id="7"/>
          <p:cNvSpPr txBox="true"/>
          <p:nvPr/>
        </p:nvSpPr>
        <p:spPr>
          <a:xfrm rot="-5400000">
            <a:off x="-1735479" y="4915159"/>
            <a:ext cx="5547408" cy="456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6"/>
              </a:lnSpc>
            </a:pPr>
            <a:r>
              <a:rPr lang="en-US" b="true" sz="3156">
                <a:solidFill>
                  <a:srgbClr val="F7EDE1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MÉTODO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71074" y="3329076"/>
            <a:ext cx="13933550" cy="1736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Objetivo</a:t>
            </a:r>
          </a:p>
          <a:p>
            <a:pPr algn="l" marL="1075697" indent="-358566" lvl="2">
              <a:lnSpc>
                <a:spcPts val="3487"/>
              </a:lnSpc>
              <a:buFont typeface="Arial"/>
              <a:buChar char="⚬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Estabilidade da balsa (formação em cruz)</a:t>
            </a:r>
          </a:p>
          <a:p>
            <a:pPr algn="l" marL="1075697" indent="-358566" lvl="2">
              <a:lnSpc>
                <a:spcPts val="3487"/>
              </a:lnSpc>
              <a:buFont typeface="Arial"/>
              <a:buChar char="⚬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Minimização de movimentos</a:t>
            </a:r>
          </a:p>
          <a:p>
            <a:pPr algn="l" marL="1075697" indent="-358566" lvl="2">
              <a:lnSpc>
                <a:spcPts val="3487"/>
              </a:lnSpc>
              <a:buFont typeface="Arial"/>
              <a:buChar char="⚬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Restrições de capacidade por deck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71074" y="5340263"/>
            <a:ext cx="13933550" cy="263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Fluxo P</a:t>
            </a: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rincipal (</a:t>
            </a:r>
            <a:r>
              <a:rPr lang="en-US" sz="2491" i="true">
                <a:solidFill>
                  <a:srgbClr val="202125"/>
                </a:solidFill>
                <a:latin typeface="Akzidenz-Grotesk Italics"/>
                <a:ea typeface="Akzidenz-Grotesk Italics"/>
                <a:cs typeface="Akzidenz-Grotesk Italics"/>
                <a:sym typeface="Akzidenz-Grotesk Italics"/>
              </a:rPr>
              <a:t>run_aga</a:t>
            </a: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)</a:t>
            </a:r>
          </a:p>
          <a:p>
            <a:pPr algn="l" marL="1075697" indent="-358566" lvl="2">
              <a:lnSpc>
                <a:spcPts val="3487"/>
              </a:lnSpc>
              <a:buFont typeface="Arial"/>
              <a:buChar char="⚬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Inicialização</a:t>
            </a:r>
            <a:r>
              <a:rPr lang="en-US" sz="2491" i="true">
                <a:solidFill>
                  <a:srgbClr val="202125"/>
                </a:solidFill>
                <a:latin typeface="Akzidenz-Grotesk Italics"/>
                <a:ea typeface="Akzidenz-Grotesk Italics"/>
                <a:cs typeface="Akzidenz-Grotesk Italics"/>
                <a:sym typeface="Akzidenz-Grotesk Italics"/>
              </a:rPr>
              <a:t>:</a:t>
            </a:r>
          </a:p>
          <a:p>
            <a:pPr algn="l" marL="1613545" indent="-403386" lvl="3">
              <a:lnSpc>
                <a:spcPts val="3487"/>
              </a:lnSpc>
              <a:buFont typeface="Arial"/>
              <a:buChar char="￭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Cria população inicial de soluções aleatórias</a:t>
            </a:r>
          </a:p>
          <a:p>
            <a:pPr algn="l" marL="1613545" indent="-403386" lvl="3">
              <a:lnSpc>
                <a:spcPts val="3487"/>
              </a:lnSpc>
              <a:buFont typeface="Arial"/>
              <a:buChar char="￭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Avalia cada solução usando a função de fitness</a:t>
            </a:r>
          </a:p>
          <a:p>
            <a:pPr algn="l">
              <a:lnSpc>
                <a:spcPts val="3487"/>
              </a:lnSpc>
            </a:pPr>
          </a:p>
          <a:p>
            <a:pPr algn="l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Loop de Gerações: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7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3455" y="0"/>
            <a:ext cx="3086100" cy="11008349"/>
            <a:chOff x="0" y="0"/>
            <a:chExt cx="812800" cy="289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899318"/>
            </a:xfrm>
            <a:custGeom>
              <a:avLst/>
              <a:gdLst/>
              <a:ahLst/>
              <a:cxnLst/>
              <a:rect r="r" b="b" t="t" l="l"/>
              <a:pathLst>
                <a:path h="289931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899318"/>
                  </a:lnTo>
                  <a:lnTo>
                    <a:pt x="0" y="2899318"/>
                  </a:lnTo>
                  <a:close/>
                </a:path>
              </a:pathLst>
            </a:custGeom>
            <a:solidFill>
              <a:srgbClr val="416B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2946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41904" y="2051198"/>
            <a:ext cx="12151843" cy="456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b="true" sz="3156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IMPLEMENTAÇÃO DO ALGORITMO GENÉTICO ADAPTATIVO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-1735479" y="4915159"/>
            <a:ext cx="5547408" cy="456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6"/>
              </a:lnSpc>
            </a:pPr>
            <a:r>
              <a:rPr lang="en-US" b="true" sz="3156">
                <a:solidFill>
                  <a:srgbClr val="F7EDE1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MÉTODO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71074" y="3329076"/>
            <a:ext cx="13933550" cy="1736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Mecanismos-Chave</a:t>
            </a:r>
          </a:p>
          <a:p>
            <a:pPr algn="l" marL="1075697" indent="-358566" lvl="2">
              <a:lnSpc>
                <a:spcPts val="3487"/>
              </a:lnSpc>
              <a:buFont typeface="Arial"/>
              <a:buChar char="⚬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Seleção por Role</a:t>
            </a: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ta: Dá preferência, mas não exclusividade, às melhores soluções</a:t>
            </a:r>
          </a:p>
          <a:p>
            <a:pPr algn="l" marL="1075697" indent="-358566" lvl="2">
              <a:lnSpc>
                <a:spcPts val="3487"/>
              </a:lnSpc>
              <a:buFont typeface="Arial"/>
              <a:buChar char="⚬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Crossover Adaptativo: Taxa ajustável (70-95%) com reparo de soluções inválidas</a:t>
            </a:r>
          </a:p>
          <a:p>
            <a:pPr algn="l" marL="1075697" indent="-358566" lvl="2">
              <a:lnSpc>
                <a:spcPts val="3487"/>
              </a:lnSpc>
              <a:buFont typeface="Arial"/>
              <a:buChar char="⚬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Mutação Inteligente: Swap que respeita restrições físicas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41904" y="5695858"/>
            <a:ext cx="13933550" cy="30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Diferenciais Importantes</a:t>
            </a:r>
          </a:p>
          <a:p>
            <a:pPr algn="l" marL="1075697" indent="-358566" lvl="2">
              <a:lnSpc>
                <a:spcPts val="3487"/>
              </a:lnSpc>
              <a:buFont typeface="Arial"/>
              <a:buChar char="⚬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Elitismo: Mantém a melhor solução a cada geração</a:t>
            </a:r>
          </a:p>
          <a:p>
            <a:pPr algn="l" marL="1075697" indent="-358566" lvl="2">
              <a:lnSpc>
                <a:spcPts val="3487"/>
              </a:lnSpc>
              <a:buFont typeface="Arial"/>
              <a:buChar char="⚬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Reparo Automático: Corrige soluções que violam restrições</a:t>
            </a:r>
          </a:p>
          <a:p>
            <a:pPr algn="l" marL="1075697" indent="-358566" lvl="2">
              <a:lnSpc>
                <a:spcPts val="3487"/>
              </a:lnSpc>
              <a:buFont typeface="Arial"/>
              <a:buChar char="⚬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Penalidades:</a:t>
            </a:r>
          </a:p>
          <a:p>
            <a:pPr algn="l" marL="1613545" indent="-403386" lvl="3">
              <a:lnSpc>
                <a:spcPts val="3487"/>
              </a:lnSpc>
              <a:buFont typeface="Arial"/>
              <a:buChar char="￭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Form</a:t>
            </a: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ação não-cruzada (peso triplo)</a:t>
            </a:r>
          </a:p>
          <a:p>
            <a:pPr algn="l" marL="1613545" indent="-403386" lvl="3">
              <a:lnSpc>
                <a:spcPts val="3487"/>
              </a:lnSpc>
              <a:buFont typeface="Arial"/>
              <a:buChar char="￭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Decks fora do limite (8-10 contêineres)</a:t>
            </a:r>
          </a:p>
          <a:p>
            <a:pPr algn="l" marL="1613545" indent="-403386" lvl="3">
              <a:lnSpc>
                <a:spcPts val="3487"/>
              </a:lnSpc>
              <a:buFont typeface="Arial"/>
              <a:buChar char="￭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Movimentos excessivos (&gt;190)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8537" y="2316689"/>
            <a:ext cx="5008869" cy="1072515"/>
            <a:chOff x="0" y="0"/>
            <a:chExt cx="879194" cy="1882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9194" cy="188256"/>
            </a:xfrm>
            <a:custGeom>
              <a:avLst/>
              <a:gdLst/>
              <a:ahLst/>
              <a:cxnLst/>
              <a:rect r="r" b="b" t="t" l="l"/>
              <a:pathLst>
                <a:path h="188256" w="879194">
                  <a:moveTo>
                    <a:pt x="0" y="0"/>
                  </a:moveTo>
                  <a:lnTo>
                    <a:pt x="879194" y="0"/>
                  </a:lnTo>
                  <a:lnTo>
                    <a:pt x="879194" y="188256"/>
                  </a:lnTo>
                  <a:lnTo>
                    <a:pt x="0" y="188256"/>
                  </a:lnTo>
                  <a:close/>
                </a:path>
              </a:pathLst>
            </a:custGeom>
            <a:solidFill>
              <a:srgbClr val="416B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79194" cy="226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6161" y="3774132"/>
            <a:ext cx="8206030" cy="3754335"/>
            <a:chOff x="0" y="0"/>
            <a:chExt cx="10941373" cy="50057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848058"/>
              <a:ext cx="10941373" cy="4157722"/>
            </a:xfrm>
            <a:custGeom>
              <a:avLst/>
              <a:gdLst/>
              <a:ahLst/>
              <a:cxnLst/>
              <a:rect r="r" b="b" t="t" l="l"/>
              <a:pathLst>
                <a:path h="4157722" w="10941373">
                  <a:moveTo>
                    <a:pt x="0" y="0"/>
                  </a:moveTo>
                  <a:lnTo>
                    <a:pt x="10941373" y="0"/>
                  </a:lnTo>
                  <a:lnTo>
                    <a:pt x="10941373" y="4157721"/>
                  </a:lnTo>
                  <a:lnTo>
                    <a:pt x="0" y="4157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66675"/>
              <a:ext cx="6839676" cy="7813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74"/>
                </a:lnSpc>
              </a:pPr>
              <a:r>
                <a:rPr lang="en-US" b="true" sz="2338">
                  <a:solidFill>
                    <a:srgbClr val="416B44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DISTRIBUIÇÃO ENCONTRADA NA ATIVIDADE PRÁTICA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402705" y="285032"/>
            <a:ext cx="8072268" cy="4367145"/>
            <a:chOff x="0" y="0"/>
            <a:chExt cx="10763025" cy="58228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572959"/>
              <a:ext cx="9536097" cy="5249901"/>
            </a:xfrm>
            <a:custGeom>
              <a:avLst/>
              <a:gdLst/>
              <a:ahLst/>
              <a:cxnLst/>
              <a:rect r="r" b="b" t="t" l="l"/>
              <a:pathLst>
                <a:path h="5249901" w="9536097">
                  <a:moveTo>
                    <a:pt x="0" y="0"/>
                  </a:moveTo>
                  <a:lnTo>
                    <a:pt x="9536097" y="0"/>
                  </a:lnTo>
                  <a:lnTo>
                    <a:pt x="9536097" y="5249900"/>
                  </a:lnTo>
                  <a:lnTo>
                    <a:pt x="0" y="5249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932" t="0" r="-4812" b="-41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3116574" y="66675"/>
              <a:ext cx="7646450" cy="469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1"/>
                </a:lnSpc>
              </a:pPr>
              <a:r>
                <a:rPr lang="en-US" b="true" sz="2614">
                  <a:solidFill>
                    <a:srgbClr val="416B44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SOLUÇÃO ÓTIMA EM 3D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-955739" y="1069554"/>
            <a:ext cx="10099739" cy="191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29"/>
              </a:lnSpc>
            </a:pPr>
            <a:r>
              <a:rPr lang="en-US" b="true" sz="7773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NOSSOS</a:t>
            </a:r>
          </a:p>
          <a:p>
            <a:pPr algn="ctr">
              <a:lnSpc>
                <a:spcPts val="7229"/>
              </a:lnSpc>
            </a:pPr>
            <a:r>
              <a:rPr lang="en-US" b="true" sz="7773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RESULTADOS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34397" y="2671021"/>
            <a:ext cx="4119466" cy="56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1"/>
              </a:lnSpc>
              <a:spcBef>
                <a:spcPct val="0"/>
              </a:spcBef>
            </a:pPr>
            <a:r>
              <a:rPr lang="en-US" sz="3329">
                <a:solidFill>
                  <a:srgbClr val="F7EDE1"/>
                </a:solidFill>
                <a:latin typeface="Stavok Grotesque"/>
                <a:ea typeface="Stavok Grotesque"/>
                <a:cs typeface="Stavok Grotesque"/>
                <a:sym typeface="Stavok Grotesque"/>
              </a:rPr>
              <a:t>Equipe 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330148" y="5249317"/>
            <a:ext cx="7957852" cy="3291835"/>
            <a:chOff x="0" y="0"/>
            <a:chExt cx="10610469" cy="43891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535978"/>
              <a:ext cx="9632839" cy="3853136"/>
            </a:xfrm>
            <a:custGeom>
              <a:avLst/>
              <a:gdLst/>
              <a:ahLst/>
              <a:cxnLst/>
              <a:rect r="r" b="b" t="t" l="l"/>
              <a:pathLst>
                <a:path h="3853136" w="9632839">
                  <a:moveTo>
                    <a:pt x="0" y="0"/>
                  </a:moveTo>
                  <a:lnTo>
                    <a:pt x="9632839" y="0"/>
                  </a:lnTo>
                  <a:lnTo>
                    <a:pt x="9632839" y="3853135"/>
                  </a:lnTo>
                  <a:lnTo>
                    <a:pt x="0" y="3853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2964019" y="66675"/>
              <a:ext cx="7646450" cy="469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1"/>
                </a:lnSpc>
              </a:pPr>
              <a:r>
                <a:rPr lang="en-US" b="true" sz="2614">
                  <a:solidFill>
                    <a:srgbClr val="416B44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SOLUÇÃO ÓTIMA EM 2D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8537" y="2316689"/>
            <a:ext cx="5008869" cy="1072515"/>
            <a:chOff x="0" y="0"/>
            <a:chExt cx="879194" cy="1882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9194" cy="188256"/>
            </a:xfrm>
            <a:custGeom>
              <a:avLst/>
              <a:gdLst/>
              <a:ahLst/>
              <a:cxnLst/>
              <a:rect r="r" b="b" t="t" l="l"/>
              <a:pathLst>
                <a:path h="188256" w="879194">
                  <a:moveTo>
                    <a:pt x="0" y="0"/>
                  </a:moveTo>
                  <a:lnTo>
                    <a:pt x="879194" y="0"/>
                  </a:lnTo>
                  <a:lnTo>
                    <a:pt x="879194" y="188256"/>
                  </a:lnTo>
                  <a:lnTo>
                    <a:pt x="0" y="188256"/>
                  </a:lnTo>
                  <a:close/>
                </a:path>
              </a:pathLst>
            </a:custGeom>
            <a:solidFill>
              <a:srgbClr val="416B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79194" cy="226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-955739" y="1069554"/>
            <a:ext cx="10099739" cy="191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29"/>
              </a:lnSpc>
            </a:pPr>
            <a:r>
              <a:rPr lang="en-US" b="true" sz="7773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NOSSOS</a:t>
            </a:r>
          </a:p>
          <a:p>
            <a:pPr algn="ctr">
              <a:lnSpc>
                <a:spcPts val="7229"/>
              </a:lnSpc>
            </a:pPr>
            <a:r>
              <a:rPr lang="en-US" b="true" sz="7773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RESULTADOS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34397" y="2671021"/>
            <a:ext cx="4119466" cy="56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1"/>
              </a:lnSpc>
              <a:spcBef>
                <a:spcPct val="0"/>
              </a:spcBef>
            </a:pPr>
            <a:r>
              <a:rPr lang="en-US" sz="3329">
                <a:solidFill>
                  <a:srgbClr val="F7EDE1"/>
                </a:solidFill>
                <a:latin typeface="Stavok Grotesque"/>
                <a:ea typeface="Stavok Grotesque"/>
                <a:cs typeface="Stavok Grotesque"/>
                <a:sym typeface="Stavok Grotesque"/>
              </a:rPr>
              <a:t>Equipe 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28537" y="3631696"/>
            <a:ext cx="7710860" cy="4518765"/>
            <a:chOff x="0" y="0"/>
            <a:chExt cx="10281147" cy="60250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889017"/>
              <a:ext cx="8990814" cy="5136003"/>
            </a:xfrm>
            <a:custGeom>
              <a:avLst/>
              <a:gdLst/>
              <a:ahLst/>
              <a:cxnLst/>
              <a:rect r="r" b="b" t="t" l="l"/>
              <a:pathLst>
                <a:path h="5136003" w="8990814">
                  <a:moveTo>
                    <a:pt x="0" y="0"/>
                  </a:moveTo>
                  <a:lnTo>
                    <a:pt x="8990814" y="0"/>
                  </a:lnTo>
                  <a:lnTo>
                    <a:pt x="8990814" y="5136003"/>
                  </a:lnTo>
                  <a:lnTo>
                    <a:pt x="0" y="5136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2774774" y="66675"/>
              <a:ext cx="7506372" cy="4594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86"/>
                </a:lnSpc>
              </a:pPr>
              <a:r>
                <a:rPr lang="en-US" b="true" sz="2566">
                  <a:solidFill>
                    <a:srgbClr val="416B44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EVOLUÇÃO DO AG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747278" y="4347893"/>
            <a:ext cx="9166376" cy="3802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2167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Resumo da Execução do Algo</a:t>
            </a:r>
            <a:r>
              <a:rPr lang="en-US" sz="2167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ritmo Genético</a:t>
            </a:r>
          </a:p>
          <a:p>
            <a:pPr algn="l">
              <a:lnSpc>
                <a:spcPts val="3034"/>
              </a:lnSpc>
            </a:pPr>
          </a:p>
          <a:p>
            <a:pPr algn="l" marL="467989" indent="-233995" lvl="1">
              <a:lnSpc>
                <a:spcPts val="3034"/>
              </a:lnSpc>
              <a:buFont typeface="Arial"/>
              <a:buChar char="•"/>
            </a:pPr>
            <a:r>
              <a:rPr lang="en-US" sz="2167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Evolução do Fitness</a:t>
            </a:r>
          </a:p>
          <a:p>
            <a:pPr algn="l" marL="935978" indent="-311993" lvl="2">
              <a:lnSpc>
                <a:spcPts val="3034"/>
              </a:lnSpc>
              <a:buFont typeface="Arial"/>
              <a:buChar char="⚬"/>
            </a:pPr>
            <a:r>
              <a:rPr lang="en-US" sz="2167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Geração 0: Fitness = 0.0178 (solução inicial aleatória)</a:t>
            </a:r>
          </a:p>
          <a:p>
            <a:pPr algn="l" marL="935978" indent="-311993" lvl="2">
              <a:lnSpc>
                <a:spcPts val="3034"/>
              </a:lnSpc>
              <a:buFont typeface="Arial"/>
              <a:buChar char="⚬"/>
            </a:pPr>
            <a:r>
              <a:rPr lang="en-US" sz="2167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Geração 300: Fitness = 0.0191 (primeira melhoria significativa)</a:t>
            </a:r>
          </a:p>
          <a:p>
            <a:pPr algn="l" marL="935978" indent="-311993" lvl="2">
              <a:lnSpc>
                <a:spcPts val="3034"/>
              </a:lnSpc>
              <a:buFont typeface="Arial"/>
              <a:buChar char="⚬"/>
            </a:pPr>
            <a:r>
              <a:rPr lang="en-US" sz="2167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Ger</a:t>
            </a:r>
            <a:r>
              <a:rPr lang="en-US" sz="2167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ação 999: Melhor fitness = 0.0195 (solução ótima encontrada)</a:t>
            </a:r>
          </a:p>
          <a:p>
            <a:pPr algn="l">
              <a:lnSpc>
                <a:spcPts val="3034"/>
              </a:lnSpc>
            </a:pPr>
          </a:p>
          <a:p>
            <a:pPr algn="l" marL="467989" indent="-233995" lvl="1">
              <a:lnSpc>
                <a:spcPts val="3034"/>
              </a:lnSpc>
              <a:buFont typeface="Arial"/>
              <a:buChar char="•"/>
            </a:pPr>
            <a:r>
              <a:rPr lang="en-US" sz="2167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Características</a:t>
            </a:r>
          </a:p>
          <a:p>
            <a:pPr algn="l" marL="935978" indent="-311993" lvl="2">
              <a:lnSpc>
                <a:spcPts val="3034"/>
              </a:lnSpc>
              <a:buFont typeface="Arial"/>
              <a:buChar char="⚬"/>
            </a:pPr>
            <a:r>
              <a:rPr lang="en-US" sz="2167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Fitness: 0.0195 (quanto maior, melhor)</a:t>
            </a:r>
          </a:p>
          <a:p>
            <a:pPr algn="l" marL="935978" indent="-311993" lvl="2">
              <a:lnSpc>
                <a:spcPts val="3034"/>
              </a:lnSpc>
              <a:buFont typeface="Arial"/>
              <a:buChar char="⚬"/>
            </a:pPr>
            <a:r>
              <a:rPr lang="en-US" sz="2167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Movimentos Totais: 166 (abaixo do limite de 190)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3455" y="0"/>
            <a:ext cx="4367734" cy="11008349"/>
            <a:chOff x="0" y="0"/>
            <a:chExt cx="1150350" cy="289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50350" cy="2899318"/>
            </a:xfrm>
            <a:custGeom>
              <a:avLst/>
              <a:gdLst/>
              <a:ahLst/>
              <a:cxnLst/>
              <a:rect r="r" b="b" t="t" l="l"/>
              <a:pathLst>
                <a:path h="2899318" w="1150350">
                  <a:moveTo>
                    <a:pt x="0" y="0"/>
                  </a:moveTo>
                  <a:lnTo>
                    <a:pt x="1150350" y="0"/>
                  </a:lnTo>
                  <a:lnTo>
                    <a:pt x="1150350" y="2899318"/>
                  </a:lnTo>
                  <a:lnTo>
                    <a:pt x="0" y="2899318"/>
                  </a:lnTo>
                  <a:close/>
                </a:path>
              </a:pathLst>
            </a:custGeom>
            <a:solidFill>
              <a:srgbClr val="20212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50350" cy="2946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774158" y="2946663"/>
            <a:ext cx="703408" cy="703408"/>
          </a:xfrm>
          <a:custGeom>
            <a:avLst/>
            <a:gdLst/>
            <a:ahLst/>
            <a:cxnLst/>
            <a:rect r="r" b="b" t="t" l="l"/>
            <a:pathLst>
              <a:path h="703408" w="703408">
                <a:moveTo>
                  <a:pt x="0" y="0"/>
                </a:moveTo>
                <a:lnTo>
                  <a:pt x="703408" y="0"/>
                </a:lnTo>
                <a:lnTo>
                  <a:pt x="703408" y="703408"/>
                </a:lnTo>
                <a:lnTo>
                  <a:pt x="0" y="703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74158" y="4088388"/>
            <a:ext cx="703408" cy="703408"/>
          </a:xfrm>
          <a:custGeom>
            <a:avLst/>
            <a:gdLst/>
            <a:ahLst/>
            <a:cxnLst/>
            <a:rect r="r" b="b" t="t" l="l"/>
            <a:pathLst>
              <a:path h="703408" w="703408">
                <a:moveTo>
                  <a:pt x="0" y="0"/>
                </a:moveTo>
                <a:lnTo>
                  <a:pt x="703408" y="0"/>
                </a:lnTo>
                <a:lnTo>
                  <a:pt x="703408" y="703408"/>
                </a:lnTo>
                <a:lnTo>
                  <a:pt x="0" y="703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774158" y="5247635"/>
            <a:ext cx="703408" cy="703408"/>
          </a:xfrm>
          <a:custGeom>
            <a:avLst/>
            <a:gdLst/>
            <a:ahLst/>
            <a:cxnLst/>
            <a:rect r="r" b="b" t="t" l="l"/>
            <a:pathLst>
              <a:path h="703408" w="703408">
                <a:moveTo>
                  <a:pt x="0" y="0"/>
                </a:moveTo>
                <a:lnTo>
                  <a:pt x="703408" y="0"/>
                </a:lnTo>
                <a:lnTo>
                  <a:pt x="703408" y="703408"/>
                </a:lnTo>
                <a:lnTo>
                  <a:pt x="0" y="703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48261" y="626665"/>
            <a:ext cx="804274" cy="877680"/>
          </a:xfrm>
          <a:custGeom>
            <a:avLst/>
            <a:gdLst/>
            <a:ahLst/>
            <a:cxnLst/>
            <a:rect r="r" b="b" t="t" l="l"/>
            <a:pathLst>
              <a:path h="877680" w="804274">
                <a:moveTo>
                  <a:pt x="0" y="0"/>
                </a:moveTo>
                <a:lnTo>
                  <a:pt x="804274" y="0"/>
                </a:lnTo>
                <a:lnTo>
                  <a:pt x="804274" y="877680"/>
                </a:lnTo>
                <a:lnTo>
                  <a:pt x="0" y="8776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852066" y="7661065"/>
            <a:ext cx="4274857" cy="4298303"/>
          </a:xfrm>
          <a:custGeom>
            <a:avLst/>
            <a:gdLst/>
            <a:ahLst/>
            <a:cxnLst/>
            <a:rect r="r" b="b" t="t" l="l"/>
            <a:pathLst>
              <a:path h="4298303" w="4274857">
                <a:moveTo>
                  <a:pt x="0" y="0"/>
                </a:moveTo>
                <a:lnTo>
                  <a:pt x="4274857" y="0"/>
                </a:lnTo>
                <a:lnTo>
                  <a:pt x="4274857" y="4298303"/>
                </a:lnTo>
                <a:lnTo>
                  <a:pt x="0" y="42983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4445061">
            <a:off x="12766023" y="-2195533"/>
            <a:ext cx="4073697" cy="4849639"/>
          </a:xfrm>
          <a:custGeom>
            <a:avLst/>
            <a:gdLst/>
            <a:ahLst/>
            <a:cxnLst/>
            <a:rect r="r" b="b" t="t" l="l"/>
            <a:pathLst>
              <a:path h="4849639" w="4073697">
                <a:moveTo>
                  <a:pt x="0" y="0"/>
                </a:moveTo>
                <a:lnTo>
                  <a:pt x="4073697" y="0"/>
                </a:lnTo>
                <a:lnTo>
                  <a:pt x="4073697" y="4849639"/>
                </a:lnTo>
                <a:lnTo>
                  <a:pt x="0" y="48496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117498" y="2683958"/>
            <a:ext cx="3575789" cy="3883981"/>
          </a:xfrm>
          <a:custGeom>
            <a:avLst/>
            <a:gdLst/>
            <a:ahLst/>
            <a:cxnLst/>
            <a:rect r="r" b="b" t="t" l="l"/>
            <a:pathLst>
              <a:path h="3883981" w="3575789">
                <a:moveTo>
                  <a:pt x="0" y="0"/>
                </a:moveTo>
                <a:lnTo>
                  <a:pt x="3575789" y="0"/>
                </a:lnTo>
                <a:lnTo>
                  <a:pt x="3575789" y="3883981"/>
                </a:lnTo>
                <a:lnTo>
                  <a:pt x="0" y="388398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37086" r="0" b="-26584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475402" y="6567939"/>
            <a:ext cx="2601414" cy="3242946"/>
          </a:xfrm>
          <a:custGeom>
            <a:avLst/>
            <a:gdLst/>
            <a:ahLst/>
            <a:cxnLst/>
            <a:rect r="r" b="b" t="t" l="l"/>
            <a:pathLst>
              <a:path h="3242946" w="2601414">
                <a:moveTo>
                  <a:pt x="0" y="0"/>
                </a:moveTo>
                <a:lnTo>
                  <a:pt x="2601414" y="0"/>
                </a:lnTo>
                <a:lnTo>
                  <a:pt x="2601414" y="3242946"/>
                </a:lnTo>
                <a:lnTo>
                  <a:pt x="0" y="324294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14298" r="0" b="-2831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27844" y="2879988"/>
            <a:ext cx="8509433" cy="4283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4"/>
              </a:lnSpc>
            </a:pPr>
            <a:r>
              <a:rPr lang="en-US" sz="3510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Isopor com medidas (70cm x 50cm)</a:t>
            </a:r>
          </a:p>
          <a:p>
            <a:pPr algn="l">
              <a:lnSpc>
                <a:spcPts val="4914"/>
              </a:lnSpc>
            </a:pPr>
          </a:p>
          <a:p>
            <a:pPr algn="l">
              <a:lnSpc>
                <a:spcPts val="4914"/>
              </a:lnSpc>
            </a:pPr>
            <a:r>
              <a:rPr lang="en-US" sz="3510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Potes de plástico como contêiner (200g)</a:t>
            </a:r>
          </a:p>
          <a:p>
            <a:pPr algn="l">
              <a:lnSpc>
                <a:spcPts val="4914"/>
              </a:lnSpc>
            </a:pPr>
          </a:p>
          <a:p>
            <a:pPr algn="l">
              <a:lnSpc>
                <a:spcPts val="4914"/>
              </a:lnSpc>
            </a:pPr>
            <a:r>
              <a:rPr lang="en-US" sz="3510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Areia, fita, papel filme, tinta para pintar barco</a:t>
            </a:r>
          </a:p>
          <a:p>
            <a:pPr algn="l">
              <a:lnSpc>
                <a:spcPts val="4914"/>
              </a:lnSpc>
            </a:pPr>
          </a:p>
          <a:p>
            <a:pPr algn="l">
              <a:lnSpc>
                <a:spcPts val="4914"/>
              </a:lnSpc>
            </a:pPr>
            <a:r>
              <a:rPr lang="en-US" sz="3510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Papel de seda para pintura de contêineres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32657" y="1811102"/>
            <a:ext cx="6035483" cy="669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5"/>
              </a:lnSpc>
            </a:pPr>
            <a:r>
              <a:rPr lang="en-US" b="true" sz="4632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MATERIAIS USADOS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2782575" y="6408243"/>
            <a:ext cx="703408" cy="703408"/>
          </a:xfrm>
          <a:custGeom>
            <a:avLst/>
            <a:gdLst/>
            <a:ahLst/>
            <a:cxnLst/>
            <a:rect r="r" b="b" t="t" l="l"/>
            <a:pathLst>
              <a:path h="703408" w="703408">
                <a:moveTo>
                  <a:pt x="0" y="0"/>
                </a:moveTo>
                <a:lnTo>
                  <a:pt x="703408" y="0"/>
                </a:lnTo>
                <a:lnTo>
                  <a:pt x="703408" y="703408"/>
                </a:lnTo>
                <a:lnTo>
                  <a:pt x="0" y="703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3455" y="0"/>
            <a:ext cx="4367734" cy="11008349"/>
            <a:chOff x="0" y="0"/>
            <a:chExt cx="1150350" cy="2899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50350" cy="2899318"/>
            </a:xfrm>
            <a:custGeom>
              <a:avLst/>
              <a:gdLst/>
              <a:ahLst/>
              <a:cxnLst/>
              <a:rect r="r" b="b" t="t" l="l"/>
              <a:pathLst>
                <a:path h="2899318" w="1150350">
                  <a:moveTo>
                    <a:pt x="0" y="0"/>
                  </a:moveTo>
                  <a:lnTo>
                    <a:pt x="1150350" y="0"/>
                  </a:lnTo>
                  <a:lnTo>
                    <a:pt x="1150350" y="2899318"/>
                  </a:lnTo>
                  <a:lnTo>
                    <a:pt x="0" y="2899318"/>
                  </a:lnTo>
                  <a:close/>
                </a:path>
              </a:pathLst>
            </a:custGeom>
            <a:solidFill>
              <a:srgbClr val="20212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50350" cy="2946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48261" y="626665"/>
            <a:ext cx="804274" cy="877680"/>
          </a:xfrm>
          <a:custGeom>
            <a:avLst/>
            <a:gdLst/>
            <a:ahLst/>
            <a:cxnLst/>
            <a:rect r="r" b="b" t="t" l="l"/>
            <a:pathLst>
              <a:path h="877680" w="804274">
                <a:moveTo>
                  <a:pt x="0" y="0"/>
                </a:moveTo>
                <a:lnTo>
                  <a:pt x="804274" y="0"/>
                </a:lnTo>
                <a:lnTo>
                  <a:pt x="804274" y="877680"/>
                </a:lnTo>
                <a:lnTo>
                  <a:pt x="0" y="877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852066" y="7661065"/>
            <a:ext cx="4274857" cy="4298303"/>
          </a:xfrm>
          <a:custGeom>
            <a:avLst/>
            <a:gdLst/>
            <a:ahLst/>
            <a:cxnLst/>
            <a:rect r="r" b="b" t="t" l="l"/>
            <a:pathLst>
              <a:path h="4298303" w="4274857">
                <a:moveTo>
                  <a:pt x="0" y="0"/>
                </a:moveTo>
                <a:lnTo>
                  <a:pt x="4274857" y="0"/>
                </a:lnTo>
                <a:lnTo>
                  <a:pt x="4274857" y="4298303"/>
                </a:lnTo>
                <a:lnTo>
                  <a:pt x="0" y="42983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445061">
            <a:off x="12766023" y="-2195533"/>
            <a:ext cx="4073697" cy="4849639"/>
          </a:xfrm>
          <a:custGeom>
            <a:avLst/>
            <a:gdLst/>
            <a:ahLst/>
            <a:cxnLst/>
            <a:rect r="r" b="b" t="t" l="l"/>
            <a:pathLst>
              <a:path h="4849639" w="4073697">
                <a:moveTo>
                  <a:pt x="0" y="0"/>
                </a:moveTo>
                <a:lnTo>
                  <a:pt x="4073697" y="0"/>
                </a:lnTo>
                <a:lnTo>
                  <a:pt x="4073697" y="4849639"/>
                </a:lnTo>
                <a:lnTo>
                  <a:pt x="0" y="48496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932657" y="1811102"/>
            <a:ext cx="6035483" cy="669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5"/>
              </a:lnSpc>
            </a:pPr>
            <a:r>
              <a:rPr lang="en-US" b="true" sz="4632">
                <a:solidFill>
                  <a:srgbClr val="202125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CONCLUSÃO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73053" y="2941373"/>
            <a:ext cx="13933550" cy="6556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Resultados Alcançados</a:t>
            </a:r>
          </a:p>
          <a:p>
            <a:pPr algn="l">
              <a:lnSpc>
                <a:spcPts val="3487"/>
              </a:lnSpc>
            </a:pPr>
          </a:p>
          <a:p>
            <a:pPr algn="l" marL="1075697" indent="-358566" lvl="2">
              <a:lnSpc>
                <a:spcPts val="3487"/>
              </a:lnSpc>
              <a:buFont typeface="Arial"/>
              <a:buChar char="⚬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Balsa Estável</a:t>
            </a:r>
          </a:p>
          <a:p>
            <a:pPr algn="l" marL="1613545" indent="-403386" lvl="3">
              <a:lnSpc>
                <a:spcPts val="3487"/>
              </a:lnSpc>
              <a:buFont typeface="Arial"/>
              <a:buChar char="￭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Distribuição otimizada pelo Algoritmo Genético.</a:t>
            </a:r>
          </a:p>
          <a:p>
            <a:pPr algn="l" marL="1613545" indent="-403386" lvl="3">
              <a:lnSpc>
                <a:spcPts val="3487"/>
              </a:lnSpc>
              <a:buFont typeface="Arial"/>
              <a:buChar char="￭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Menor número de movimentos (166) e boa estabilidade.</a:t>
            </a:r>
          </a:p>
          <a:p>
            <a:pPr algn="l">
              <a:lnSpc>
                <a:spcPts val="3487"/>
              </a:lnSpc>
            </a:pPr>
          </a:p>
          <a:p>
            <a:pPr algn="l" marL="1075697" indent="-358566" lvl="2">
              <a:lnSpc>
                <a:spcPts val="3487"/>
              </a:lnSpc>
              <a:buFont typeface="Arial"/>
              <a:buChar char="⚬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Balsa Instável (Naufrágio)</a:t>
            </a:r>
          </a:p>
          <a:p>
            <a:pPr algn="l" marL="1613545" indent="-403386" lvl="3">
              <a:lnSpc>
                <a:spcPts val="3487"/>
              </a:lnSpc>
              <a:buFont typeface="Arial"/>
              <a:buChar char="￭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Distribuição ruim proposital →</a:t>
            </a: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Centro de massa desbalanceado.</a:t>
            </a:r>
          </a:p>
          <a:p>
            <a:pPr algn="l" marL="1613545" indent="-403386" lvl="3">
              <a:lnSpc>
                <a:spcPts val="3487"/>
              </a:lnSpc>
              <a:buFont typeface="Arial"/>
              <a:buChar char="￭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Virou no protótipo físico, provando que:</a:t>
            </a:r>
          </a:p>
          <a:p>
            <a:pPr algn="l" marL="2151394" indent="-430279" lvl="4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Os contêineres têm peso suficiente para afetar a flutuação.</a:t>
            </a:r>
          </a:p>
          <a:p>
            <a:pPr algn="l" marL="2151394" indent="-430279" lvl="4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 organização espacial é crít</a:t>
            </a: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ica para a segurança.</a:t>
            </a:r>
          </a:p>
          <a:p>
            <a:pPr algn="l">
              <a:lnSpc>
                <a:spcPts val="3487"/>
              </a:lnSpc>
            </a:pPr>
          </a:p>
          <a:p>
            <a:pPr algn="l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Animação feita no Blender</a:t>
            </a:r>
          </a:p>
          <a:p>
            <a:pPr algn="l">
              <a:lnSpc>
                <a:spcPts val="3487"/>
              </a:lnSpc>
            </a:pPr>
          </a:p>
          <a:p>
            <a:pPr algn="l" marL="537848" indent="-268924" lvl="1">
              <a:lnSpc>
                <a:spcPts val="3487"/>
              </a:lnSpc>
              <a:buFont typeface="Arial"/>
              <a:buChar char="•"/>
            </a:pPr>
            <a:r>
              <a:rPr lang="en-US" sz="2491">
                <a:solidFill>
                  <a:srgbClr val="20212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Código feito em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DAGl25moOCY</dc:identifier>
  <dcterms:modified xsi:type="dcterms:W3CDTF">2011-08-01T06:04:30Z</dcterms:modified>
  <cp:revision>1</cp:revision>
  <dc:title>MECFLU</dc:title>
</cp:coreProperties>
</file>